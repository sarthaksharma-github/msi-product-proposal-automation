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thak Sharma" userId="16803c0d-c230-4ae1-bbf2-1439c964a0fd" providerId="ADAL" clId="{CA8785A2-CDC3-4500-87E3-709631EA1ACA}"/>
    <pc:docChg chg="undo custSel modSld">
      <pc:chgData name="Sarthak Sharma" userId="16803c0d-c230-4ae1-bbf2-1439c964a0fd" providerId="ADAL" clId="{CA8785A2-CDC3-4500-87E3-709631EA1ACA}" dt="2026-05-14T14:59:31.176" v="184" actId="20577"/>
      <pc:docMkLst>
        <pc:docMk/>
      </pc:docMkLst>
      <pc:sldChg chg="addSp delSp modSp mod">
        <pc:chgData name="Sarthak Sharma" userId="16803c0d-c230-4ae1-bbf2-1439c964a0fd" providerId="ADAL" clId="{CA8785A2-CDC3-4500-87E3-709631EA1ACA}" dt="2026-05-14T14:59:31.176" v="184" actId="20577"/>
        <pc:sldMkLst>
          <pc:docMk/>
          <pc:sldMk cId="0" sldId="256"/>
        </pc:sldMkLst>
        <pc:spChg chg="mod">
          <ac:chgData name="Sarthak Sharma" userId="16803c0d-c230-4ae1-bbf2-1439c964a0fd" providerId="ADAL" clId="{CA8785A2-CDC3-4500-87E3-709631EA1ACA}" dt="2026-05-14T14:41:00.161" v="131" actId="20577"/>
          <ac:spMkLst>
            <pc:docMk/>
            <pc:sldMk cId="0" sldId="256"/>
            <ac:spMk id="3" creationId="{00000000-0000-0000-0000-000000000000}"/>
          </ac:spMkLst>
        </pc:spChg>
        <pc:spChg chg="del mod">
          <ac:chgData name="Sarthak Sharma" userId="16803c0d-c230-4ae1-bbf2-1439c964a0fd" providerId="ADAL" clId="{CA8785A2-CDC3-4500-87E3-709631EA1ACA}" dt="2026-05-14T13:11:11.114" v="12" actId="478"/>
          <ac:spMkLst>
            <pc:docMk/>
            <pc:sldMk cId="0" sldId="256"/>
            <ac:spMk id="5" creationId="{00000000-0000-0000-0000-000000000000}"/>
          </ac:spMkLst>
        </pc:spChg>
        <pc:spChg chg="add mod">
          <ac:chgData name="Sarthak Sharma" userId="16803c0d-c230-4ae1-bbf2-1439c964a0fd" providerId="ADAL" clId="{CA8785A2-CDC3-4500-87E3-709631EA1ACA}" dt="2026-05-14T14:59:31.176" v="184" actId="20577"/>
          <ac:spMkLst>
            <pc:docMk/>
            <pc:sldMk cId="0" sldId="256"/>
            <ac:spMk id="5" creationId="{56029277-50CE-9475-3068-8A42F5E4200E}"/>
          </ac:spMkLst>
        </pc:spChg>
        <pc:spChg chg="add del mod">
          <ac:chgData name="Sarthak Sharma" userId="16803c0d-c230-4ae1-bbf2-1439c964a0fd" providerId="ADAL" clId="{CA8785A2-CDC3-4500-87E3-709631EA1ACA}" dt="2026-05-14T13:11:19.461" v="15" actId="478"/>
          <ac:spMkLst>
            <pc:docMk/>
            <pc:sldMk cId="0" sldId="256"/>
            <ac:spMk id="6" creationId="{00000000-0000-0000-0000-000000000000}"/>
          </ac:spMkLst>
        </pc:spChg>
        <pc:spChg chg="mod">
          <ac:chgData name="Sarthak Sharma" userId="16803c0d-c230-4ae1-bbf2-1439c964a0fd" providerId="ADAL" clId="{CA8785A2-CDC3-4500-87E3-709631EA1ACA}" dt="2026-05-14T14:59:08.917" v="156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Sarthak Sharma" userId="16803c0d-c230-4ae1-bbf2-1439c964a0fd" providerId="ADAL" clId="{CA8785A2-CDC3-4500-87E3-709631EA1ACA}" dt="2026-05-14T14:59:03.799" v="155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Sarthak Sharma" userId="16803c0d-c230-4ae1-bbf2-1439c964a0fd" providerId="ADAL" clId="{CA8785A2-CDC3-4500-87E3-709631EA1ACA}" dt="2026-05-14T14:38:53.339" v="112" actId="20577"/>
          <ac:spMkLst>
            <pc:docMk/>
            <pc:sldMk cId="0" sldId="256"/>
            <ac:spMk id="13" creationId="{00000000-0000-0000-0000-000000000000}"/>
          </ac:spMkLst>
        </pc:spChg>
        <pc:spChg chg="mod">
          <ac:chgData name="Sarthak Sharma" userId="16803c0d-c230-4ae1-bbf2-1439c964a0fd" providerId="ADAL" clId="{CA8785A2-CDC3-4500-87E3-709631EA1ACA}" dt="2026-05-14T14:38:46.496" v="111" actId="20577"/>
          <ac:spMkLst>
            <pc:docMk/>
            <pc:sldMk cId="0" sldId="256"/>
            <ac:spMk id="16" creationId="{00000000-0000-0000-0000-000000000000}"/>
          </ac:spMkLst>
        </pc:spChg>
        <pc:spChg chg="mod">
          <ac:chgData name="Sarthak Sharma" userId="16803c0d-c230-4ae1-bbf2-1439c964a0fd" providerId="ADAL" clId="{CA8785A2-CDC3-4500-87E3-709631EA1ACA}" dt="2026-05-14T14:38:38.152" v="106" actId="20577"/>
          <ac:spMkLst>
            <pc:docMk/>
            <pc:sldMk cId="0" sldId="256"/>
            <ac:spMk id="19" creationId="{00000000-0000-0000-0000-000000000000}"/>
          </ac:spMkLst>
        </pc:spChg>
        <pc:spChg chg="del mod">
          <ac:chgData name="Sarthak Sharma" userId="16803c0d-c230-4ae1-bbf2-1439c964a0fd" providerId="ADAL" clId="{CA8785A2-CDC3-4500-87E3-709631EA1ACA}" dt="2026-05-14T14:29:46.367" v="46"/>
          <ac:spMkLst>
            <pc:docMk/>
            <pc:sldMk cId="0" sldId="256"/>
            <ac:spMk id="21" creationId="{00000000-0000-0000-0000-000000000000}"/>
          </ac:spMkLst>
        </pc:spChg>
        <pc:spChg chg="add mod">
          <ac:chgData name="Sarthak Sharma" userId="16803c0d-c230-4ae1-bbf2-1439c964a0fd" providerId="ADAL" clId="{CA8785A2-CDC3-4500-87E3-709631EA1ACA}" dt="2026-05-14T13:11:31.380" v="17" actId="14100"/>
          <ac:spMkLst>
            <pc:docMk/>
            <pc:sldMk cId="0" sldId="256"/>
            <ac:spMk id="22" creationId="{E43C72C0-F14E-AE6C-05B1-D855F2B7A75A}"/>
          </ac:spMkLst>
        </pc:spChg>
        <pc:spChg chg="add mod">
          <ac:chgData name="Sarthak Sharma" userId="16803c0d-c230-4ae1-bbf2-1439c964a0fd" providerId="ADAL" clId="{CA8785A2-CDC3-4500-87E3-709631EA1ACA}" dt="2026-05-14T13:13:14.118" v="34" actId="403"/>
          <ac:spMkLst>
            <pc:docMk/>
            <pc:sldMk cId="0" sldId="256"/>
            <ac:spMk id="23" creationId="{ADD96B28-6F81-F84A-72AB-0C2FA85D90A9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767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PEEPADS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C9B892"/>
          </a:solidFill>
          <a:ln>
            <a:solidFill>
              <a:srgbClr val="C9B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0" y="914400"/>
            <a:ext cx="7040880" cy="1234440"/>
          </a:xfrm>
          <a:prstGeom prst="roundRect">
            <a:avLst/>
          </a:prstGeom>
          <a:solidFill>
            <a:srgbClr val="F8F6F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143000"/>
            <a:ext cx="10759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Item Number</a:t>
            </a:r>
          </a:p>
          <a:p>
            <a:r>
              <a:rPr sz="1300" dirty="0">
                <a:solidFill>
                  <a:srgbClr val="696969"/>
                </a:solidFill>
              </a:rPr>
              <a:t>5360473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8177" y="1143000"/>
            <a:ext cx="707310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Color</a:t>
            </a:r>
          </a:p>
          <a:p>
            <a:r>
              <a:rPr sz="1200" dirty="0">
                <a:solidFill>
                  <a:srgbClr val="696969"/>
                </a:solidFill>
              </a:rPr>
              <a:t>Green, Gray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1822" y="1149698"/>
            <a:ext cx="7359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Retail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$34.99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743200"/>
            <a:ext cx="7040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907792"/>
            <a:ext cx="6675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Top Paw® Indoor Grass Potty Pad System For Dogs, Includes Grass Pad, Washable Pee Pad &amp; Base Tray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MATERIAL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663440"/>
            <a:ext cx="3931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3456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Artificial Grass, Plastic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DIMENSIONS &amp; SPECIFICATIONS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663440"/>
            <a:ext cx="7040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4846320"/>
            <a:ext cx="6629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Grass Pad: 24.4 in x 16.5 in (62 x 42 cm); Washable Pad: 24.2 x 16.1 in (61.5 x 41 cm); Tray: 26.2 in x 18.3 in (66.5 x 46.4 cm)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3C72C0-F14E-AE6C-05B1-D855F2B7A75A}"/>
              </a:ext>
            </a:extLst>
          </p:cNvPr>
          <p:cNvSpPr/>
          <p:nvPr/>
        </p:nvSpPr>
        <p:spPr>
          <a:xfrm>
            <a:off x="406844" y="914400"/>
            <a:ext cx="3570796" cy="3108960"/>
          </a:xfrm>
          <a:prstGeom prst="rect">
            <a:avLst/>
          </a:prstGeom>
          <a:solidFill>
            <a:srgbClr val="F8F6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D96B28-6F81-F84A-72AB-0C2FA85D90A9}"/>
              </a:ext>
            </a:extLst>
          </p:cNvPr>
          <p:cNvSpPr txBox="1"/>
          <p:nvPr/>
        </p:nvSpPr>
        <p:spPr>
          <a:xfrm>
            <a:off x="406844" y="914400"/>
            <a:ext cx="35707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29277-50CE-9475-3068-8A42F5E4200E}"/>
              </a:ext>
            </a:extLst>
          </p:cNvPr>
          <p:cNvSpPr txBox="1"/>
          <p:nvPr/>
        </p:nvSpPr>
        <p:spPr>
          <a:xfrm>
            <a:off x="10354064" y="1145233"/>
            <a:ext cx="9501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Country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-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44" y="914400"/>
            <a:ext cx="3570796" cy="31393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767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PEEPADS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C9B892"/>
          </a:solidFill>
          <a:ln>
            <a:solidFill>
              <a:srgbClr val="C9B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0" y="914400"/>
            <a:ext cx="7040880" cy="1234440"/>
          </a:xfrm>
          <a:prstGeom prst="roundRect">
            <a:avLst/>
          </a:prstGeom>
          <a:solidFill>
            <a:srgbClr val="F8F6F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143000"/>
            <a:ext cx="10759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Item Number</a:t>
            </a:r>
          </a:p>
          <a:p>
            <a:r>
              <a:rPr sz="1300" dirty="0">
                <a:solidFill>
                  <a:srgbClr val="696969"/>
                </a:solidFill>
              </a:rPr>
              <a:t>5353398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8177" y="1143000"/>
            <a:ext cx="707310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Color</a:t>
            </a:r>
          </a:p>
          <a:p>
            <a:r>
              <a:rPr sz="1200" dirty="0">
                <a:solidFill>
                  <a:srgbClr val="696969"/>
                </a:solidFill>
              </a:rPr>
              <a:t>Multiple Colors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1822" y="1149698"/>
            <a:ext cx="7359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Retail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$12.99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743200"/>
            <a:ext cx="7040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907792"/>
            <a:ext cx="6675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Full Cheeks™ Fleece Pee Pad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MATERIAL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663440"/>
            <a:ext cx="3931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3456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Shell: 100% Polyester Filling: 100% Polyester Batting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DIMENSIONS &amp; SPECIFICATIONS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663440"/>
            <a:ext cx="7040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4846320"/>
            <a:ext cx="6629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12 in L x 12 in W x (30.4 x 30.4 cm)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3C72C0-F14E-AE6C-05B1-D855F2B7A75A}"/>
              </a:ext>
            </a:extLst>
          </p:cNvPr>
          <p:cNvSpPr/>
          <p:nvPr/>
        </p:nvSpPr>
        <p:spPr>
          <a:xfrm>
            <a:off x="406844" y="914400"/>
            <a:ext cx="3570796" cy="3108960"/>
          </a:xfrm>
          <a:prstGeom prst="rect">
            <a:avLst/>
          </a:prstGeom>
          <a:solidFill>
            <a:srgbClr val="F8F6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D96B28-6F81-F84A-72AB-0C2FA85D90A9}"/>
              </a:ext>
            </a:extLst>
          </p:cNvPr>
          <p:cNvSpPr txBox="1"/>
          <p:nvPr/>
        </p:nvSpPr>
        <p:spPr>
          <a:xfrm>
            <a:off x="406844" y="914400"/>
            <a:ext cx="35707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29277-50CE-9475-3068-8A42F5E4200E}"/>
              </a:ext>
            </a:extLst>
          </p:cNvPr>
          <p:cNvSpPr txBox="1"/>
          <p:nvPr/>
        </p:nvSpPr>
        <p:spPr>
          <a:xfrm>
            <a:off x="10354064" y="1145233"/>
            <a:ext cx="9501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Country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-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44" y="914400"/>
            <a:ext cx="3570796" cy="31393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767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PEEPADS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C9B892"/>
          </a:solidFill>
          <a:ln>
            <a:solidFill>
              <a:srgbClr val="C9B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0" y="914400"/>
            <a:ext cx="7040880" cy="1234440"/>
          </a:xfrm>
          <a:prstGeom prst="roundRect">
            <a:avLst/>
          </a:prstGeom>
          <a:solidFill>
            <a:srgbClr val="F8F6F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143000"/>
            <a:ext cx="10759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Item Number</a:t>
            </a:r>
          </a:p>
          <a:p>
            <a:r>
              <a:rPr sz="1300" dirty="0">
                <a:solidFill>
                  <a:srgbClr val="696969"/>
                </a:solidFill>
              </a:rPr>
              <a:t>5360474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8177" y="1143000"/>
            <a:ext cx="707310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Color</a:t>
            </a:r>
          </a:p>
          <a:p>
            <a:r>
              <a:rPr sz="1200" dirty="0">
                <a:solidFill>
                  <a:srgbClr val="696969"/>
                </a:solidFill>
              </a:rPr>
              <a:t>Green, Gray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1822" y="1149698"/>
            <a:ext cx="7359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Retail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$29.99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743200"/>
            <a:ext cx="7040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907792"/>
            <a:ext cx="6675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Top Paw® Indoor Grass Potty Pads For Potty Training, Includes Artifical Grass Pad &amp; Washable Pad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MATERIAL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663440"/>
            <a:ext cx="3931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3456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Artificial Grass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DIMENSIONS &amp; SPECIFICATIONS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663440"/>
            <a:ext cx="7040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4846320"/>
            <a:ext cx="6629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Grass Pad: 24.4 in x 16.5 in (62 x 42 cm); Washable Pad: 24.2 in x 16.1 in (61.5 x 41 cm)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3C72C0-F14E-AE6C-05B1-D855F2B7A75A}"/>
              </a:ext>
            </a:extLst>
          </p:cNvPr>
          <p:cNvSpPr/>
          <p:nvPr/>
        </p:nvSpPr>
        <p:spPr>
          <a:xfrm>
            <a:off x="406844" y="914400"/>
            <a:ext cx="3570796" cy="3108960"/>
          </a:xfrm>
          <a:prstGeom prst="rect">
            <a:avLst/>
          </a:prstGeom>
          <a:solidFill>
            <a:srgbClr val="F8F6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D96B28-6F81-F84A-72AB-0C2FA85D90A9}"/>
              </a:ext>
            </a:extLst>
          </p:cNvPr>
          <p:cNvSpPr txBox="1"/>
          <p:nvPr/>
        </p:nvSpPr>
        <p:spPr>
          <a:xfrm>
            <a:off x="406844" y="914400"/>
            <a:ext cx="35707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29277-50CE-9475-3068-8A42F5E4200E}"/>
              </a:ext>
            </a:extLst>
          </p:cNvPr>
          <p:cNvSpPr txBox="1"/>
          <p:nvPr/>
        </p:nvSpPr>
        <p:spPr>
          <a:xfrm>
            <a:off x="10354064" y="1145233"/>
            <a:ext cx="9501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Country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-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44" y="914400"/>
            <a:ext cx="3570796" cy="31393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767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RUBBER MATS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C9B892"/>
          </a:solidFill>
          <a:ln>
            <a:solidFill>
              <a:srgbClr val="C9B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0" y="914400"/>
            <a:ext cx="7040880" cy="1234440"/>
          </a:xfrm>
          <a:prstGeom prst="roundRect">
            <a:avLst/>
          </a:prstGeom>
          <a:solidFill>
            <a:srgbClr val="F8F6F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143000"/>
            <a:ext cx="10759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Item Number</a:t>
            </a:r>
          </a:p>
          <a:p>
            <a:r>
              <a:rPr sz="1300" dirty="0">
                <a:solidFill>
                  <a:srgbClr val="696969"/>
                </a:solidFill>
              </a:rPr>
              <a:t>5297624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8177" y="1143000"/>
            <a:ext cx="707310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Color</a:t>
            </a:r>
          </a:p>
          <a:p>
            <a:r>
              <a:rPr sz="1200" dirty="0">
                <a:solidFill>
                  <a:srgbClr val="696969"/>
                </a:solidFill>
              </a:rPr>
              <a:t>Gray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1822" y="1149698"/>
            <a:ext cx="7359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Retail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$42.99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743200"/>
            <a:ext cx="7040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907792"/>
            <a:ext cx="6675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ExquisiCat® Cat Litter Trapping X-Large Mat, Waterproof, Urine-Proof, Gray, 37" x 28"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MATERIAL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663440"/>
            <a:ext cx="3931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3456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Rubber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DIMENSIONS &amp; SPECIFICATIONS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663440"/>
            <a:ext cx="7040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4846320"/>
            <a:ext cx="6629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37 IN X 28 IN (93.9 X 71.1 cm)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3C72C0-F14E-AE6C-05B1-D855F2B7A75A}"/>
              </a:ext>
            </a:extLst>
          </p:cNvPr>
          <p:cNvSpPr/>
          <p:nvPr/>
        </p:nvSpPr>
        <p:spPr>
          <a:xfrm>
            <a:off x="406844" y="914400"/>
            <a:ext cx="3570796" cy="3108960"/>
          </a:xfrm>
          <a:prstGeom prst="rect">
            <a:avLst/>
          </a:prstGeom>
          <a:solidFill>
            <a:srgbClr val="F8F6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D96B28-6F81-F84A-72AB-0C2FA85D90A9}"/>
              </a:ext>
            </a:extLst>
          </p:cNvPr>
          <p:cNvSpPr txBox="1"/>
          <p:nvPr/>
        </p:nvSpPr>
        <p:spPr>
          <a:xfrm>
            <a:off x="406844" y="914400"/>
            <a:ext cx="35707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29277-50CE-9475-3068-8A42F5E4200E}"/>
              </a:ext>
            </a:extLst>
          </p:cNvPr>
          <p:cNvSpPr txBox="1"/>
          <p:nvPr/>
        </p:nvSpPr>
        <p:spPr>
          <a:xfrm>
            <a:off x="10354064" y="1145233"/>
            <a:ext cx="9501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Country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China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44" y="914400"/>
            <a:ext cx="3570796" cy="313932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767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PET BOWLS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C9B892"/>
          </a:solidFill>
          <a:ln>
            <a:solidFill>
              <a:srgbClr val="C9B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0" y="914400"/>
            <a:ext cx="7040880" cy="1234440"/>
          </a:xfrm>
          <a:prstGeom prst="roundRect">
            <a:avLst/>
          </a:prstGeom>
          <a:solidFill>
            <a:srgbClr val="F8F6F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143000"/>
            <a:ext cx="10759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Item Number</a:t>
            </a:r>
          </a:p>
          <a:p>
            <a:r>
              <a:rPr sz="1300" dirty="0">
                <a:solidFill>
                  <a:srgbClr val="696969"/>
                </a:solidFill>
              </a:rPr>
              <a:t>5320471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8177" y="1143000"/>
            <a:ext cx="707310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Color</a:t>
            </a:r>
          </a:p>
          <a:p>
            <a:r>
              <a:rPr sz="1200" dirty="0">
                <a:solidFill>
                  <a:srgbClr val="696969"/>
                </a:solidFill>
              </a:rPr>
              <a:t>Grey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1822" y="1149698"/>
            <a:ext cx="7359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Retail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$10.99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743200"/>
            <a:ext cx="7040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907792"/>
            <a:ext cx="6675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Top Paw® Grey Puzzle Slow Feeder Dog Bowl, 0.75-cup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MATERIAL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663440"/>
            <a:ext cx="3931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3456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Plastic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DIMENSIONS &amp; SPECIFICATIONS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663440"/>
            <a:ext cx="7040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4846320"/>
            <a:ext cx="6629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5.9 in DIA x 1 in H (14.9 x 2.54 cm)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3C72C0-F14E-AE6C-05B1-D855F2B7A75A}"/>
              </a:ext>
            </a:extLst>
          </p:cNvPr>
          <p:cNvSpPr/>
          <p:nvPr/>
        </p:nvSpPr>
        <p:spPr>
          <a:xfrm>
            <a:off x="406844" y="914400"/>
            <a:ext cx="3570796" cy="3108960"/>
          </a:xfrm>
          <a:prstGeom prst="rect">
            <a:avLst/>
          </a:prstGeom>
          <a:solidFill>
            <a:srgbClr val="F8F6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D96B28-6F81-F84A-72AB-0C2FA85D90A9}"/>
              </a:ext>
            </a:extLst>
          </p:cNvPr>
          <p:cNvSpPr txBox="1"/>
          <p:nvPr/>
        </p:nvSpPr>
        <p:spPr>
          <a:xfrm>
            <a:off x="406844" y="914400"/>
            <a:ext cx="35707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29277-50CE-9475-3068-8A42F5E4200E}"/>
              </a:ext>
            </a:extLst>
          </p:cNvPr>
          <p:cNvSpPr txBox="1"/>
          <p:nvPr/>
        </p:nvSpPr>
        <p:spPr>
          <a:xfrm>
            <a:off x="10354064" y="1145233"/>
            <a:ext cx="9501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Country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-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44" y="914400"/>
            <a:ext cx="3570796" cy="31393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767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PET BOWLS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C9B892"/>
          </a:solidFill>
          <a:ln>
            <a:solidFill>
              <a:srgbClr val="C9B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0" y="914400"/>
            <a:ext cx="7040880" cy="1234440"/>
          </a:xfrm>
          <a:prstGeom prst="roundRect">
            <a:avLst/>
          </a:prstGeom>
          <a:solidFill>
            <a:srgbClr val="F8F6F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143000"/>
            <a:ext cx="10759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Item Number</a:t>
            </a:r>
          </a:p>
          <a:p>
            <a:r>
              <a:rPr sz="1300" dirty="0">
                <a:solidFill>
                  <a:srgbClr val="696969"/>
                </a:solidFill>
              </a:rPr>
              <a:t>5367107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8177" y="1143000"/>
            <a:ext cx="707310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Color</a:t>
            </a:r>
          </a:p>
          <a:p>
            <a:r>
              <a:rPr sz="1200" dirty="0">
                <a:solidFill>
                  <a:srgbClr val="696969"/>
                </a:solidFill>
              </a:rPr>
              <a:t>Pink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1822" y="1149698"/>
            <a:ext cx="7359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Retail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$12.99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743200"/>
            <a:ext cx="7040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907792"/>
            <a:ext cx="6675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Top Paw® Novelty Pink Dogs Stainless Steel Dog Bowl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MATERIAL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663440"/>
            <a:ext cx="3931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3456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Plastic, Stainless Steel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DIMENSIONS &amp; SPECIFICATIONS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663440"/>
            <a:ext cx="7040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4846320"/>
            <a:ext cx="6629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8 IN X 8 IN X 3 IN (20.3 X 20.3 X 7.6 cm)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3C72C0-F14E-AE6C-05B1-D855F2B7A75A}"/>
              </a:ext>
            </a:extLst>
          </p:cNvPr>
          <p:cNvSpPr/>
          <p:nvPr/>
        </p:nvSpPr>
        <p:spPr>
          <a:xfrm>
            <a:off x="406844" y="914400"/>
            <a:ext cx="3570796" cy="3108960"/>
          </a:xfrm>
          <a:prstGeom prst="rect">
            <a:avLst/>
          </a:prstGeom>
          <a:solidFill>
            <a:srgbClr val="F8F6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D96B28-6F81-F84A-72AB-0C2FA85D90A9}"/>
              </a:ext>
            </a:extLst>
          </p:cNvPr>
          <p:cNvSpPr txBox="1"/>
          <p:nvPr/>
        </p:nvSpPr>
        <p:spPr>
          <a:xfrm>
            <a:off x="406844" y="914400"/>
            <a:ext cx="35707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29277-50CE-9475-3068-8A42F5E4200E}"/>
              </a:ext>
            </a:extLst>
          </p:cNvPr>
          <p:cNvSpPr txBox="1"/>
          <p:nvPr/>
        </p:nvSpPr>
        <p:spPr>
          <a:xfrm>
            <a:off x="10354064" y="1145233"/>
            <a:ext cx="9501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Country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-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44" y="914400"/>
            <a:ext cx="3570796" cy="31393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767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PET BOWLS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C9B892"/>
          </a:solidFill>
          <a:ln>
            <a:solidFill>
              <a:srgbClr val="C9B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0" y="914400"/>
            <a:ext cx="7040880" cy="1234440"/>
          </a:xfrm>
          <a:prstGeom prst="roundRect">
            <a:avLst/>
          </a:prstGeom>
          <a:solidFill>
            <a:srgbClr val="F8F6F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143000"/>
            <a:ext cx="10759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Item Number</a:t>
            </a:r>
          </a:p>
          <a:p>
            <a:r>
              <a:rPr sz="1300" dirty="0">
                <a:solidFill>
                  <a:srgbClr val="696969"/>
                </a:solidFill>
              </a:rPr>
              <a:t>5320473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8177" y="1143000"/>
            <a:ext cx="707310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Color</a:t>
            </a:r>
          </a:p>
          <a:p>
            <a:r>
              <a:rPr sz="1200" dirty="0">
                <a:solidFill>
                  <a:srgbClr val="696969"/>
                </a:solidFill>
              </a:rPr>
              <a:t>Blue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1822" y="1149698"/>
            <a:ext cx="7359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Retail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$14.99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743200"/>
            <a:ext cx="7040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907792"/>
            <a:ext cx="6675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Top Paw® Puzzle Slow Feeder Dog Bowl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MATERIAL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663440"/>
            <a:ext cx="3931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3456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TPR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DIMENSIONS &amp; SPECIFICATIONS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663440"/>
            <a:ext cx="7040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4846320"/>
            <a:ext cx="6629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8.05 IN D X 9 IN W X 1.4 IN H(20.4 X 22.8 X 3.55 cm)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3C72C0-F14E-AE6C-05B1-D855F2B7A75A}"/>
              </a:ext>
            </a:extLst>
          </p:cNvPr>
          <p:cNvSpPr/>
          <p:nvPr/>
        </p:nvSpPr>
        <p:spPr>
          <a:xfrm>
            <a:off x="406844" y="914400"/>
            <a:ext cx="3570796" cy="3108960"/>
          </a:xfrm>
          <a:prstGeom prst="rect">
            <a:avLst/>
          </a:prstGeom>
          <a:solidFill>
            <a:srgbClr val="F8F6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D96B28-6F81-F84A-72AB-0C2FA85D90A9}"/>
              </a:ext>
            </a:extLst>
          </p:cNvPr>
          <p:cNvSpPr txBox="1"/>
          <p:nvPr/>
        </p:nvSpPr>
        <p:spPr>
          <a:xfrm>
            <a:off x="406844" y="914400"/>
            <a:ext cx="35707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29277-50CE-9475-3068-8A42F5E4200E}"/>
              </a:ext>
            </a:extLst>
          </p:cNvPr>
          <p:cNvSpPr txBox="1"/>
          <p:nvPr/>
        </p:nvSpPr>
        <p:spPr>
          <a:xfrm>
            <a:off x="10354064" y="1145233"/>
            <a:ext cx="9501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Country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-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44" y="914400"/>
            <a:ext cx="3570796" cy="31393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767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PET BOWLS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C9B892"/>
          </a:solidFill>
          <a:ln>
            <a:solidFill>
              <a:srgbClr val="C9B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0" y="914400"/>
            <a:ext cx="7040880" cy="1234440"/>
          </a:xfrm>
          <a:prstGeom prst="roundRect">
            <a:avLst/>
          </a:prstGeom>
          <a:solidFill>
            <a:srgbClr val="F8F6F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143000"/>
            <a:ext cx="10759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Item Number</a:t>
            </a:r>
          </a:p>
          <a:p>
            <a:r>
              <a:rPr sz="1300" dirty="0">
                <a:solidFill>
                  <a:srgbClr val="696969"/>
                </a:solidFill>
              </a:rPr>
              <a:t>5302639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8177" y="1143000"/>
            <a:ext cx="707310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Color</a:t>
            </a:r>
          </a:p>
          <a:p>
            <a:r>
              <a:rPr sz="1200" dirty="0">
                <a:solidFill>
                  <a:srgbClr val="696969"/>
                </a:solidFill>
              </a:rPr>
              <a:t>Black, Silver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1822" y="1149698"/>
            <a:ext cx="7359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Retail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$21.99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743200"/>
            <a:ext cx="7040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907792"/>
            <a:ext cx="6675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Top Paw® Stainless Steel Black Rubber Bottom Dog Bowl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MATERIAL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663440"/>
            <a:ext cx="3931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3456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Metal, Plastic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DIMENSIONS &amp; SPECIFICATIONS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663440"/>
            <a:ext cx="7040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4846320"/>
            <a:ext cx="6629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7.75 in x 7.75 in x 3-1/8 in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3C72C0-F14E-AE6C-05B1-D855F2B7A75A}"/>
              </a:ext>
            </a:extLst>
          </p:cNvPr>
          <p:cNvSpPr/>
          <p:nvPr/>
        </p:nvSpPr>
        <p:spPr>
          <a:xfrm>
            <a:off x="406844" y="914400"/>
            <a:ext cx="3570796" cy="3108960"/>
          </a:xfrm>
          <a:prstGeom prst="rect">
            <a:avLst/>
          </a:prstGeom>
          <a:solidFill>
            <a:srgbClr val="F8F6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D96B28-6F81-F84A-72AB-0C2FA85D90A9}"/>
              </a:ext>
            </a:extLst>
          </p:cNvPr>
          <p:cNvSpPr txBox="1"/>
          <p:nvPr/>
        </p:nvSpPr>
        <p:spPr>
          <a:xfrm>
            <a:off x="406844" y="914400"/>
            <a:ext cx="35707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29277-50CE-9475-3068-8A42F5E4200E}"/>
              </a:ext>
            </a:extLst>
          </p:cNvPr>
          <p:cNvSpPr txBox="1"/>
          <p:nvPr/>
        </p:nvSpPr>
        <p:spPr>
          <a:xfrm>
            <a:off x="10354064" y="1145233"/>
            <a:ext cx="9501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Country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-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44" y="914400"/>
            <a:ext cx="3570796" cy="31393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767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PET BOWLS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C9B892"/>
          </a:solidFill>
          <a:ln>
            <a:solidFill>
              <a:srgbClr val="C9B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0" y="914400"/>
            <a:ext cx="7040880" cy="1234440"/>
          </a:xfrm>
          <a:prstGeom prst="roundRect">
            <a:avLst/>
          </a:prstGeom>
          <a:solidFill>
            <a:srgbClr val="F8F6F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143000"/>
            <a:ext cx="10759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Item Number</a:t>
            </a:r>
          </a:p>
          <a:p>
            <a:r>
              <a:rPr sz="1300" dirty="0">
                <a:solidFill>
                  <a:srgbClr val="696969"/>
                </a:solidFill>
              </a:rPr>
              <a:t>5292121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8177" y="1143000"/>
            <a:ext cx="707310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Color</a:t>
            </a:r>
          </a:p>
          <a:p>
            <a:r>
              <a:rPr sz="1200" dirty="0">
                <a:solidFill>
                  <a:srgbClr val="696969"/>
                </a:solidFill>
              </a:rPr>
              <a:t>Grey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1822" y="1149698"/>
            <a:ext cx="7359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Retail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$18.99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743200"/>
            <a:ext cx="7040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907792"/>
            <a:ext cx="6675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Top Paw® Grey Slow Feeder Dog Bowl, 6.75-cup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MATERIAL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663440"/>
            <a:ext cx="3931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3456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PP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DIMENSIONS &amp; SPECIFICATIONS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663440"/>
            <a:ext cx="7040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4846320"/>
            <a:ext cx="6629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10 IN DIA X 2 IN H (25.4 X 5.08 cm)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3C72C0-F14E-AE6C-05B1-D855F2B7A75A}"/>
              </a:ext>
            </a:extLst>
          </p:cNvPr>
          <p:cNvSpPr/>
          <p:nvPr/>
        </p:nvSpPr>
        <p:spPr>
          <a:xfrm>
            <a:off x="406844" y="914400"/>
            <a:ext cx="3570796" cy="3108960"/>
          </a:xfrm>
          <a:prstGeom prst="rect">
            <a:avLst/>
          </a:prstGeom>
          <a:solidFill>
            <a:srgbClr val="F8F6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D96B28-6F81-F84A-72AB-0C2FA85D90A9}"/>
              </a:ext>
            </a:extLst>
          </p:cNvPr>
          <p:cNvSpPr txBox="1"/>
          <p:nvPr/>
        </p:nvSpPr>
        <p:spPr>
          <a:xfrm>
            <a:off x="406844" y="914400"/>
            <a:ext cx="35707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29277-50CE-9475-3068-8A42F5E4200E}"/>
              </a:ext>
            </a:extLst>
          </p:cNvPr>
          <p:cNvSpPr txBox="1"/>
          <p:nvPr/>
        </p:nvSpPr>
        <p:spPr>
          <a:xfrm>
            <a:off x="10354064" y="1145233"/>
            <a:ext cx="9501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Country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-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44" y="914400"/>
            <a:ext cx="3570796" cy="31393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767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PET BOWLS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C9B892"/>
          </a:solidFill>
          <a:ln>
            <a:solidFill>
              <a:srgbClr val="C9B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0" y="914400"/>
            <a:ext cx="7040880" cy="1234440"/>
          </a:xfrm>
          <a:prstGeom prst="roundRect">
            <a:avLst/>
          </a:prstGeom>
          <a:solidFill>
            <a:srgbClr val="F8F6F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143000"/>
            <a:ext cx="10759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Item Number</a:t>
            </a:r>
          </a:p>
          <a:p>
            <a:r>
              <a:rPr sz="1300" dirty="0">
                <a:solidFill>
                  <a:srgbClr val="696969"/>
                </a:solidFill>
              </a:rPr>
              <a:t>5367106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8177" y="1143000"/>
            <a:ext cx="707310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Color</a:t>
            </a:r>
          </a:p>
          <a:p>
            <a:r>
              <a:rPr sz="1200" dirty="0">
                <a:solidFill>
                  <a:srgbClr val="696969"/>
                </a:solidFill>
              </a:rPr>
              <a:t>Cream, Blue, Brown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1822" y="1149698"/>
            <a:ext cx="7359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Retail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$12.99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743200"/>
            <a:ext cx="7040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907792"/>
            <a:ext cx="6675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Top Paw® Novelty Dog Faces Stainless Steel Dog Bowl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MATERIAL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663440"/>
            <a:ext cx="3931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3456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Plastic, Stainless Steel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DIMENSIONS &amp; SPECIFICATIONS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663440"/>
            <a:ext cx="7040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4846320"/>
            <a:ext cx="6629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8 IN X 8 IN X 3 IN (20.3 X 20.3 X 7.26 cm)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3C72C0-F14E-AE6C-05B1-D855F2B7A75A}"/>
              </a:ext>
            </a:extLst>
          </p:cNvPr>
          <p:cNvSpPr/>
          <p:nvPr/>
        </p:nvSpPr>
        <p:spPr>
          <a:xfrm>
            <a:off x="406844" y="914400"/>
            <a:ext cx="3570796" cy="3108960"/>
          </a:xfrm>
          <a:prstGeom prst="rect">
            <a:avLst/>
          </a:prstGeom>
          <a:solidFill>
            <a:srgbClr val="F8F6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D96B28-6F81-F84A-72AB-0C2FA85D90A9}"/>
              </a:ext>
            </a:extLst>
          </p:cNvPr>
          <p:cNvSpPr txBox="1"/>
          <p:nvPr/>
        </p:nvSpPr>
        <p:spPr>
          <a:xfrm>
            <a:off x="406844" y="914400"/>
            <a:ext cx="35707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29277-50CE-9475-3068-8A42F5E4200E}"/>
              </a:ext>
            </a:extLst>
          </p:cNvPr>
          <p:cNvSpPr txBox="1"/>
          <p:nvPr/>
        </p:nvSpPr>
        <p:spPr>
          <a:xfrm>
            <a:off x="10354064" y="1145233"/>
            <a:ext cx="9501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Country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-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44" y="914400"/>
            <a:ext cx="3570796" cy="313932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767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PET BOWLS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C9B892"/>
          </a:solidFill>
          <a:ln>
            <a:solidFill>
              <a:srgbClr val="C9B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0" y="914400"/>
            <a:ext cx="7040880" cy="1234440"/>
          </a:xfrm>
          <a:prstGeom prst="roundRect">
            <a:avLst/>
          </a:prstGeom>
          <a:solidFill>
            <a:srgbClr val="F8F6F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143000"/>
            <a:ext cx="10759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Item Number</a:t>
            </a:r>
          </a:p>
          <a:p>
            <a:r>
              <a:rPr sz="1300" dirty="0">
                <a:solidFill>
                  <a:srgbClr val="696969"/>
                </a:solidFill>
              </a:rPr>
              <a:t>5366815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8177" y="1143000"/>
            <a:ext cx="707310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Color</a:t>
            </a:r>
          </a:p>
          <a:p>
            <a:r>
              <a:rPr sz="1200" dirty="0">
                <a:solidFill>
                  <a:srgbClr val="696969"/>
                </a:solidFill>
              </a:rPr>
              <a:t>Green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1822" y="1149698"/>
            <a:ext cx="7359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Retail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$3.99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743200"/>
            <a:ext cx="7040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907792"/>
            <a:ext cx="6675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Top Paw® Green Plastic Dog Bowl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MATERIAL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663440"/>
            <a:ext cx="3931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3456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Plastic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DIMENSIONS &amp; SPECIFICATIONS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663440"/>
            <a:ext cx="7040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4846320"/>
            <a:ext cx="6629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6.1 IN X 6.1 IN X 1.45 IN (15.4 X 15.4 X 3.68 cm)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3C72C0-F14E-AE6C-05B1-D855F2B7A75A}"/>
              </a:ext>
            </a:extLst>
          </p:cNvPr>
          <p:cNvSpPr/>
          <p:nvPr/>
        </p:nvSpPr>
        <p:spPr>
          <a:xfrm>
            <a:off x="406844" y="914400"/>
            <a:ext cx="3570796" cy="3108960"/>
          </a:xfrm>
          <a:prstGeom prst="rect">
            <a:avLst/>
          </a:prstGeom>
          <a:solidFill>
            <a:srgbClr val="F8F6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D96B28-6F81-F84A-72AB-0C2FA85D90A9}"/>
              </a:ext>
            </a:extLst>
          </p:cNvPr>
          <p:cNvSpPr txBox="1"/>
          <p:nvPr/>
        </p:nvSpPr>
        <p:spPr>
          <a:xfrm>
            <a:off x="406844" y="914400"/>
            <a:ext cx="35707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29277-50CE-9475-3068-8A42F5E4200E}"/>
              </a:ext>
            </a:extLst>
          </p:cNvPr>
          <p:cNvSpPr txBox="1"/>
          <p:nvPr/>
        </p:nvSpPr>
        <p:spPr>
          <a:xfrm>
            <a:off x="10354064" y="1145233"/>
            <a:ext cx="9501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Country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-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44" y="914400"/>
            <a:ext cx="3570796" cy="313932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767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PET BOWLS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C9B892"/>
          </a:solidFill>
          <a:ln>
            <a:solidFill>
              <a:srgbClr val="C9B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0" y="914400"/>
            <a:ext cx="7040880" cy="1234440"/>
          </a:xfrm>
          <a:prstGeom prst="roundRect">
            <a:avLst/>
          </a:prstGeom>
          <a:solidFill>
            <a:srgbClr val="F8F6F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143000"/>
            <a:ext cx="10759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Item Number</a:t>
            </a:r>
          </a:p>
          <a:p>
            <a:r>
              <a:rPr sz="1300" dirty="0">
                <a:solidFill>
                  <a:srgbClr val="696969"/>
                </a:solidFill>
              </a:rPr>
              <a:t>5320478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8177" y="1143000"/>
            <a:ext cx="707310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Color</a:t>
            </a:r>
          </a:p>
          <a:p>
            <a:r>
              <a:rPr sz="1200" dirty="0">
                <a:solidFill>
                  <a:srgbClr val="696969"/>
                </a:solidFill>
              </a:rPr>
              <a:t>Blue Pearl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1822" y="1149698"/>
            <a:ext cx="7359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Retail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$5.99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743200"/>
            <a:ext cx="7040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907792"/>
            <a:ext cx="6675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Top Paw® Pearl Plastic Dog Bowl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MATERIAL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663440"/>
            <a:ext cx="3931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3456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Plastic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DIMENSIONS &amp; SPECIFICATIONS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663440"/>
            <a:ext cx="7040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4846320"/>
            <a:ext cx="6629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8.2 IN X 10.5 IN X 2.8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3C72C0-F14E-AE6C-05B1-D855F2B7A75A}"/>
              </a:ext>
            </a:extLst>
          </p:cNvPr>
          <p:cNvSpPr/>
          <p:nvPr/>
        </p:nvSpPr>
        <p:spPr>
          <a:xfrm>
            <a:off x="406844" y="914400"/>
            <a:ext cx="3570796" cy="3108960"/>
          </a:xfrm>
          <a:prstGeom prst="rect">
            <a:avLst/>
          </a:prstGeom>
          <a:solidFill>
            <a:srgbClr val="F8F6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D96B28-6F81-F84A-72AB-0C2FA85D90A9}"/>
              </a:ext>
            </a:extLst>
          </p:cNvPr>
          <p:cNvSpPr txBox="1"/>
          <p:nvPr/>
        </p:nvSpPr>
        <p:spPr>
          <a:xfrm>
            <a:off x="406844" y="914400"/>
            <a:ext cx="35707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29277-50CE-9475-3068-8A42F5E4200E}"/>
              </a:ext>
            </a:extLst>
          </p:cNvPr>
          <p:cNvSpPr txBox="1"/>
          <p:nvPr/>
        </p:nvSpPr>
        <p:spPr>
          <a:xfrm>
            <a:off x="10354064" y="1145233"/>
            <a:ext cx="9501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Country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-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44" y="914400"/>
            <a:ext cx="3570796" cy="313932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767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PET BOWLS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C9B892"/>
          </a:solidFill>
          <a:ln>
            <a:solidFill>
              <a:srgbClr val="C9B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0" y="914400"/>
            <a:ext cx="7040880" cy="1234440"/>
          </a:xfrm>
          <a:prstGeom prst="roundRect">
            <a:avLst/>
          </a:prstGeom>
          <a:solidFill>
            <a:srgbClr val="F8F6F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143000"/>
            <a:ext cx="10759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Item Number</a:t>
            </a:r>
          </a:p>
          <a:p>
            <a:r>
              <a:rPr sz="1300" dirty="0">
                <a:solidFill>
                  <a:srgbClr val="696969"/>
                </a:solidFill>
              </a:rPr>
              <a:t>5087369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8177" y="1143000"/>
            <a:ext cx="707310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Color</a:t>
            </a:r>
          </a:p>
          <a:p>
            <a:r>
              <a:rPr sz="1200" dirty="0">
                <a:solidFill>
                  <a:srgbClr val="696969"/>
                </a:solidFill>
              </a:rPr>
              <a:t>Granite Stone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1822" y="1149698"/>
            <a:ext cx="7359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Retail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$54.99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743200"/>
            <a:ext cx="7040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907792"/>
            <a:ext cx="6675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Vittles Vault® by GAMMA2 Paw Print Pet Food Container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MATERIAL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663440"/>
            <a:ext cx="3931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3456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BPA-Free HDPE Plastic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DIMENSIONS &amp; SPECIFICATIONS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663440"/>
            <a:ext cx="7040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4846320"/>
            <a:ext cx="6629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12 in x 12 in x 16.75 in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3C72C0-F14E-AE6C-05B1-D855F2B7A75A}"/>
              </a:ext>
            </a:extLst>
          </p:cNvPr>
          <p:cNvSpPr/>
          <p:nvPr/>
        </p:nvSpPr>
        <p:spPr>
          <a:xfrm>
            <a:off x="406844" y="914400"/>
            <a:ext cx="3570796" cy="3108960"/>
          </a:xfrm>
          <a:prstGeom prst="rect">
            <a:avLst/>
          </a:prstGeom>
          <a:solidFill>
            <a:srgbClr val="F8F6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D96B28-6F81-F84A-72AB-0C2FA85D90A9}"/>
              </a:ext>
            </a:extLst>
          </p:cNvPr>
          <p:cNvSpPr txBox="1"/>
          <p:nvPr/>
        </p:nvSpPr>
        <p:spPr>
          <a:xfrm>
            <a:off x="406844" y="914400"/>
            <a:ext cx="35707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29277-50CE-9475-3068-8A42F5E4200E}"/>
              </a:ext>
            </a:extLst>
          </p:cNvPr>
          <p:cNvSpPr txBox="1"/>
          <p:nvPr/>
        </p:nvSpPr>
        <p:spPr>
          <a:xfrm>
            <a:off x="10354064" y="1145233"/>
            <a:ext cx="9501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Country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-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44" y="914400"/>
            <a:ext cx="3570796" cy="313932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767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PET BOWLS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C9B892"/>
          </a:solidFill>
          <a:ln>
            <a:solidFill>
              <a:srgbClr val="C9B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0" y="914400"/>
            <a:ext cx="7040880" cy="1234440"/>
          </a:xfrm>
          <a:prstGeom prst="roundRect">
            <a:avLst/>
          </a:prstGeom>
          <a:solidFill>
            <a:srgbClr val="F8F6F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143000"/>
            <a:ext cx="10759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Item Number</a:t>
            </a:r>
          </a:p>
          <a:p>
            <a:r>
              <a:rPr sz="1300" dirty="0">
                <a:solidFill>
                  <a:srgbClr val="696969"/>
                </a:solidFill>
              </a:rPr>
              <a:t>5063535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8177" y="1143000"/>
            <a:ext cx="707310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Color</a:t>
            </a:r>
          </a:p>
          <a:p>
            <a:r>
              <a:rPr sz="1200" dirty="0">
                <a:solidFill>
                  <a:srgbClr val="696969"/>
                </a:solidFill>
              </a:rPr>
              <a:t>Granite Stone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1822" y="1149698"/>
            <a:ext cx="7359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Retail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$64.99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743200"/>
            <a:ext cx="7040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907792"/>
            <a:ext cx="6675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Vittles Vault® by GAMMA2 Stackable Pet Food Container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MATERIAL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663440"/>
            <a:ext cx="3931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3456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BPA-Free HDPE Plastic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DIMENSIONS &amp; SPECIFICATIONS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663440"/>
            <a:ext cx="7040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4846320"/>
            <a:ext cx="6629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12 in x 20.5 in x 16.75 in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3C72C0-F14E-AE6C-05B1-D855F2B7A75A}"/>
              </a:ext>
            </a:extLst>
          </p:cNvPr>
          <p:cNvSpPr/>
          <p:nvPr/>
        </p:nvSpPr>
        <p:spPr>
          <a:xfrm>
            <a:off x="406844" y="914400"/>
            <a:ext cx="3570796" cy="3108960"/>
          </a:xfrm>
          <a:prstGeom prst="rect">
            <a:avLst/>
          </a:prstGeom>
          <a:solidFill>
            <a:srgbClr val="F8F6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D96B28-6F81-F84A-72AB-0C2FA85D90A9}"/>
              </a:ext>
            </a:extLst>
          </p:cNvPr>
          <p:cNvSpPr txBox="1"/>
          <p:nvPr/>
        </p:nvSpPr>
        <p:spPr>
          <a:xfrm>
            <a:off x="406844" y="914400"/>
            <a:ext cx="35707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29277-50CE-9475-3068-8A42F5E4200E}"/>
              </a:ext>
            </a:extLst>
          </p:cNvPr>
          <p:cNvSpPr txBox="1"/>
          <p:nvPr/>
        </p:nvSpPr>
        <p:spPr>
          <a:xfrm>
            <a:off x="10354064" y="1145233"/>
            <a:ext cx="9501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Country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-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44" y="914400"/>
            <a:ext cx="3570796" cy="313932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767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PET BOWLS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C9B892"/>
          </a:solidFill>
          <a:ln>
            <a:solidFill>
              <a:srgbClr val="C9B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0" y="914400"/>
            <a:ext cx="7040880" cy="1234440"/>
          </a:xfrm>
          <a:prstGeom prst="roundRect">
            <a:avLst/>
          </a:prstGeom>
          <a:solidFill>
            <a:srgbClr val="F8F6F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143000"/>
            <a:ext cx="10759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Item Number</a:t>
            </a:r>
          </a:p>
          <a:p>
            <a:r>
              <a:rPr sz="1300" dirty="0">
                <a:solidFill>
                  <a:srgbClr val="696969"/>
                </a:solidFill>
              </a:rPr>
              <a:t>5302226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8177" y="1143000"/>
            <a:ext cx="707310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Color</a:t>
            </a:r>
          </a:p>
          <a:p>
            <a:r>
              <a:rPr sz="1200" dirty="0">
                <a:solidFill>
                  <a:srgbClr val="696969"/>
                </a:solidFill>
              </a:rPr>
              <a:t>Clear, Black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1822" y="1149698"/>
            <a:ext cx="7359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Retail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$44.99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743200"/>
            <a:ext cx="7040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907792"/>
            <a:ext cx="6675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Top Paw® Plastic Food Storage Container with Dual-Sided Lid and Built-In Scoop, BPA-Free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MATERIAL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663440"/>
            <a:ext cx="3931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3456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Plastic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DIMENSIONS &amp; SPECIFICATIONS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663440"/>
            <a:ext cx="7040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4846320"/>
            <a:ext cx="6629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21 .5 in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3C72C0-F14E-AE6C-05B1-D855F2B7A75A}"/>
              </a:ext>
            </a:extLst>
          </p:cNvPr>
          <p:cNvSpPr/>
          <p:nvPr/>
        </p:nvSpPr>
        <p:spPr>
          <a:xfrm>
            <a:off x="406844" y="914400"/>
            <a:ext cx="3570796" cy="3108960"/>
          </a:xfrm>
          <a:prstGeom prst="rect">
            <a:avLst/>
          </a:prstGeom>
          <a:solidFill>
            <a:srgbClr val="F8F6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D96B28-6F81-F84A-72AB-0C2FA85D90A9}"/>
              </a:ext>
            </a:extLst>
          </p:cNvPr>
          <p:cNvSpPr txBox="1"/>
          <p:nvPr/>
        </p:nvSpPr>
        <p:spPr>
          <a:xfrm>
            <a:off x="406844" y="914400"/>
            <a:ext cx="35707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29277-50CE-9475-3068-8A42F5E4200E}"/>
              </a:ext>
            </a:extLst>
          </p:cNvPr>
          <p:cNvSpPr txBox="1"/>
          <p:nvPr/>
        </p:nvSpPr>
        <p:spPr>
          <a:xfrm>
            <a:off x="10354064" y="1145233"/>
            <a:ext cx="9501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Country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-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44" y="914400"/>
            <a:ext cx="3570796" cy="313932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767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PET BOWLS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C9B892"/>
          </a:solidFill>
          <a:ln>
            <a:solidFill>
              <a:srgbClr val="C9B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0" y="914400"/>
            <a:ext cx="7040880" cy="1234440"/>
          </a:xfrm>
          <a:prstGeom prst="roundRect">
            <a:avLst/>
          </a:prstGeom>
          <a:solidFill>
            <a:srgbClr val="F8F6F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143000"/>
            <a:ext cx="10759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Item Number</a:t>
            </a:r>
          </a:p>
          <a:p>
            <a:r>
              <a:rPr sz="1300" dirty="0">
                <a:solidFill>
                  <a:srgbClr val="696969"/>
                </a:solidFill>
              </a:rPr>
              <a:t>5094489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8177" y="1143000"/>
            <a:ext cx="707310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Color</a:t>
            </a:r>
          </a:p>
          <a:p>
            <a:r>
              <a:rPr sz="1200" dirty="0">
                <a:solidFill>
                  <a:srgbClr val="696969"/>
                </a:solidFill>
              </a:rPr>
              <a:t>Granite Stone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1822" y="1149698"/>
            <a:ext cx="7359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Retail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$49.99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743200"/>
            <a:ext cx="7040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907792"/>
            <a:ext cx="6675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Vittles Vault® by GAMMA2 Pet Food Container, 15 LB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MATERIAL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663440"/>
            <a:ext cx="3931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3456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BPA-Free HDPE Plastic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DIMENSIONS &amp; SPECIFICATIONS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663440"/>
            <a:ext cx="7040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4846320"/>
            <a:ext cx="6629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12 in x 12 in x 8.75 in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3C72C0-F14E-AE6C-05B1-D855F2B7A75A}"/>
              </a:ext>
            </a:extLst>
          </p:cNvPr>
          <p:cNvSpPr/>
          <p:nvPr/>
        </p:nvSpPr>
        <p:spPr>
          <a:xfrm>
            <a:off x="406844" y="914400"/>
            <a:ext cx="3570796" cy="3108960"/>
          </a:xfrm>
          <a:prstGeom prst="rect">
            <a:avLst/>
          </a:prstGeom>
          <a:solidFill>
            <a:srgbClr val="F8F6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D96B28-6F81-F84A-72AB-0C2FA85D90A9}"/>
              </a:ext>
            </a:extLst>
          </p:cNvPr>
          <p:cNvSpPr txBox="1"/>
          <p:nvPr/>
        </p:nvSpPr>
        <p:spPr>
          <a:xfrm>
            <a:off x="406844" y="914400"/>
            <a:ext cx="35707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29277-50CE-9475-3068-8A42F5E4200E}"/>
              </a:ext>
            </a:extLst>
          </p:cNvPr>
          <p:cNvSpPr txBox="1"/>
          <p:nvPr/>
        </p:nvSpPr>
        <p:spPr>
          <a:xfrm>
            <a:off x="10354064" y="1145233"/>
            <a:ext cx="9501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Country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-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44" y="914400"/>
            <a:ext cx="3570796" cy="313932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767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PET BOWLS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C9B892"/>
          </a:solidFill>
          <a:ln>
            <a:solidFill>
              <a:srgbClr val="C9B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0" y="914400"/>
            <a:ext cx="7040880" cy="1234440"/>
          </a:xfrm>
          <a:prstGeom prst="roundRect">
            <a:avLst/>
          </a:prstGeom>
          <a:solidFill>
            <a:srgbClr val="F8F6F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143000"/>
            <a:ext cx="10759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Item Number</a:t>
            </a:r>
          </a:p>
          <a:p>
            <a:r>
              <a:rPr sz="1300" dirty="0">
                <a:solidFill>
                  <a:srgbClr val="696969"/>
                </a:solidFill>
              </a:rPr>
              <a:t>5311608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8177" y="1143000"/>
            <a:ext cx="707310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Color</a:t>
            </a:r>
          </a:p>
          <a:p>
            <a:r>
              <a:rPr sz="1200" dirty="0">
                <a:solidFill>
                  <a:srgbClr val="696969"/>
                </a:solidFill>
              </a:rPr>
              <a:t>Clear, Black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1822" y="1149698"/>
            <a:ext cx="7359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Retail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$39.99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743200"/>
            <a:ext cx="7040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907792"/>
            <a:ext cx="6675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Paw Prints Printed Pet Food Storage Container with Wheels, 26-lb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MATERIAL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663440"/>
            <a:ext cx="3931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3456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Plastic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DIMENSIONS &amp; SPECIFICATIONS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663440"/>
            <a:ext cx="7040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4846320"/>
            <a:ext cx="6629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-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3C72C0-F14E-AE6C-05B1-D855F2B7A75A}"/>
              </a:ext>
            </a:extLst>
          </p:cNvPr>
          <p:cNvSpPr/>
          <p:nvPr/>
        </p:nvSpPr>
        <p:spPr>
          <a:xfrm>
            <a:off x="406844" y="914400"/>
            <a:ext cx="3570796" cy="3108960"/>
          </a:xfrm>
          <a:prstGeom prst="rect">
            <a:avLst/>
          </a:prstGeom>
          <a:solidFill>
            <a:srgbClr val="F8F6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D96B28-6F81-F84A-72AB-0C2FA85D90A9}"/>
              </a:ext>
            </a:extLst>
          </p:cNvPr>
          <p:cNvSpPr txBox="1"/>
          <p:nvPr/>
        </p:nvSpPr>
        <p:spPr>
          <a:xfrm>
            <a:off x="406844" y="914400"/>
            <a:ext cx="35707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29277-50CE-9475-3068-8A42F5E4200E}"/>
              </a:ext>
            </a:extLst>
          </p:cNvPr>
          <p:cNvSpPr txBox="1"/>
          <p:nvPr/>
        </p:nvSpPr>
        <p:spPr>
          <a:xfrm>
            <a:off x="10354064" y="1145233"/>
            <a:ext cx="9501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Country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-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44" y="914400"/>
            <a:ext cx="3570796" cy="313932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767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PET BOWLS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C9B892"/>
          </a:solidFill>
          <a:ln>
            <a:solidFill>
              <a:srgbClr val="C9B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0" y="914400"/>
            <a:ext cx="7040880" cy="1234440"/>
          </a:xfrm>
          <a:prstGeom prst="roundRect">
            <a:avLst/>
          </a:prstGeom>
          <a:solidFill>
            <a:srgbClr val="F8F6F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143000"/>
            <a:ext cx="10759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Item Number</a:t>
            </a:r>
          </a:p>
          <a:p>
            <a:r>
              <a:rPr sz="1300" dirty="0">
                <a:solidFill>
                  <a:srgbClr val="696969"/>
                </a:solidFill>
              </a:rPr>
              <a:t>5366617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8177" y="1143000"/>
            <a:ext cx="707310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Color</a:t>
            </a:r>
          </a:p>
          <a:p>
            <a:r>
              <a:rPr sz="1200" dirty="0">
                <a:solidFill>
                  <a:srgbClr val="696969"/>
                </a:solidFill>
              </a:rPr>
              <a:t>Black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1822" y="1149698"/>
            <a:ext cx="7359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Retail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$64.99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743200"/>
            <a:ext cx="7040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907792"/>
            <a:ext cx="6675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Top Paw® Airtight Dog Food Storage Container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MATERIAL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663440"/>
            <a:ext cx="3931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3456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PP, HDPE, ABS, Silicone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DIMENSIONS &amp; SPECIFICATIONS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663440"/>
            <a:ext cx="7040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4846320"/>
            <a:ext cx="6629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17.9 IN W X 17.9 IN L X 15.7 IN H (45.4 X 45.4 X 40 cm)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3C72C0-F14E-AE6C-05B1-D855F2B7A75A}"/>
              </a:ext>
            </a:extLst>
          </p:cNvPr>
          <p:cNvSpPr/>
          <p:nvPr/>
        </p:nvSpPr>
        <p:spPr>
          <a:xfrm>
            <a:off x="406844" y="914400"/>
            <a:ext cx="3570796" cy="3108960"/>
          </a:xfrm>
          <a:prstGeom prst="rect">
            <a:avLst/>
          </a:prstGeom>
          <a:solidFill>
            <a:srgbClr val="F8F6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D96B28-6F81-F84A-72AB-0C2FA85D90A9}"/>
              </a:ext>
            </a:extLst>
          </p:cNvPr>
          <p:cNvSpPr txBox="1"/>
          <p:nvPr/>
        </p:nvSpPr>
        <p:spPr>
          <a:xfrm>
            <a:off x="406844" y="914400"/>
            <a:ext cx="35707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29277-50CE-9475-3068-8A42F5E4200E}"/>
              </a:ext>
            </a:extLst>
          </p:cNvPr>
          <p:cNvSpPr txBox="1"/>
          <p:nvPr/>
        </p:nvSpPr>
        <p:spPr>
          <a:xfrm>
            <a:off x="10354064" y="1145233"/>
            <a:ext cx="9501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Country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-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44" y="914400"/>
            <a:ext cx="3570796" cy="313932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767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PET BOWLS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C9B892"/>
          </a:solidFill>
          <a:ln>
            <a:solidFill>
              <a:srgbClr val="C9B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0" y="914400"/>
            <a:ext cx="7040880" cy="1234440"/>
          </a:xfrm>
          <a:prstGeom prst="roundRect">
            <a:avLst/>
          </a:prstGeom>
          <a:solidFill>
            <a:srgbClr val="F8F6F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143000"/>
            <a:ext cx="10759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Item Number</a:t>
            </a:r>
          </a:p>
          <a:p>
            <a:r>
              <a:rPr sz="1300" dirty="0">
                <a:solidFill>
                  <a:srgbClr val="696969"/>
                </a:solidFill>
              </a:rPr>
              <a:t>5366807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8177" y="1143000"/>
            <a:ext cx="707310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Color</a:t>
            </a:r>
          </a:p>
          <a:p>
            <a:r>
              <a:rPr sz="1200" dirty="0">
                <a:solidFill>
                  <a:srgbClr val="696969"/>
                </a:solidFill>
              </a:rPr>
              <a:t>Cream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1822" y="1149698"/>
            <a:ext cx="7359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Retail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$34.99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743200"/>
            <a:ext cx="7040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907792"/>
            <a:ext cx="6675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Whisker City® Food Storage Container &amp; Scoop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MATERIAL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663440"/>
            <a:ext cx="3931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3456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Plastic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DIMENSIONS &amp; SPECIFICATIONS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663440"/>
            <a:ext cx="7040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4846320"/>
            <a:ext cx="6629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9.84 IN W X 9.84 IN D X 12.91 IN H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3C72C0-F14E-AE6C-05B1-D855F2B7A75A}"/>
              </a:ext>
            </a:extLst>
          </p:cNvPr>
          <p:cNvSpPr/>
          <p:nvPr/>
        </p:nvSpPr>
        <p:spPr>
          <a:xfrm>
            <a:off x="406844" y="914400"/>
            <a:ext cx="3570796" cy="3108960"/>
          </a:xfrm>
          <a:prstGeom prst="rect">
            <a:avLst/>
          </a:prstGeom>
          <a:solidFill>
            <a:srgbClr val="F8F6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D96B28-6F81-F84A-72AB-0C2FA85D90A9}"/>
              </a:ext>
            </a:extLst>
          </p:cNvPr>
          <p:cNvSpPr txBox="1"/>
          <p:nvPr/>
        </p:nvSpPr>
        <p:spPr>
          <a:xfrm>
            <a:off x="406844" y="914400"/>
            <a:ext cx="35707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29277-50CE-9475-3068-8A42F5E4200E}"/>
              </a:ext>
            </a:extLst>
          </p:cNvPr>
          <p:cNvSpPr txBox="1"/>
          <p:nvPr/>
        </p:nvSpPr>
        <p:spPr>
          <a:xfrm>
            <a:off x="10354064" y="1145233"/>
            <a:ext cx="9501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Country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-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44" y="914400"/>
            <a:ext cx="3570796" cy="313932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767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PET BOWLS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C9B892"/>
          </a:solidFill>
          <a:ln>
            <a:solidFill>
              <a:srgbClr val="C9B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0" y="914400"/>
            <a:ext cx="7040880" cy="1234440"/>
          </a:xfrm>
          <a:prstGeom prst="roundRect">
            <a:avLst/>
          </a:prstGeom>
          <a:solidFill>
            <a:srgbClr val="F8F6F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143000"/>
            <a:ext cx="10759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Item Number</a:t>
            </a:r>
          </a:p>
          <a:p>
            <a:r>
              <a:rPr sz="1300" dirty="0">
                <a:solidFill>
                  <a:srgbClr val="696969"/>
                </a:solidFill>
              </a:rPr>
              <a:t>5357766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8177" y="1143000"/>
            <a:ext cx="707310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Color</a:t>
            </a:r>
          </a:p>
          <a:p>
            <a:r>
              <a:rPr sz="1200" dirty="0">
                <a:solidFill>
                  <a:srgbClr val="696969"/>
                </a:solidFill>
              </a:rPr>
              <a:t>White, Black, Brown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1822" y="1149698"/>
            <a:ext cx="7359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Retail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$49.99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743200"/>
            <a:ext cx="7040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907792"/>
            <a:ext cx="6675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Top Paw® Storage Tin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MATERIAL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663440"/>
            <a:ext cx="3931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3456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Tin, Wood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DIMENSIONS &amp; SPECIFICATIONS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663440"/>
            <a:ext cx="7040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4846320"/>
            <a:ext cx="6629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11.25 in x 11.25 in x 15.5 in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3C72C0-F14E-AE6C-05B1-D855F2B7A75A}"/>
              </a:ext>
            </a:extLst>
          </p:cNvPr>
          <p:cNvSpPr/>
          <p:nvPr/>
        </p:nvSpPr>
        <p:spPr>
          <a:xfrm>
            <a:off x="406844" y="914400"/>
            <a:ext cx="3570796" cy="3108960"/>
          </a:xfrm>
          <a:prstGeom prst="rect">
            <a:avLst/>
          </a:prstGeom>
          <a:solidFill>
            <a:srgbClr val="F8F6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D96B28-6F81-F84A-72AB-0C2FA85D90A9}"/>
              </a:ext>
            </a:extLst>
          </p:cNvPr>
          <p:cNvSpPr txBox="1"/>
          <p:nvPr/>
        </p:nvSpPr>
        <p:spPr>
          <a:xfrm>
            <a:off x="406844" y="914400"/>
            <a:ext cx="35707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29277-50CE-9475-3068-8A42F5E4200E}"/>
              </a:ext>
            </a:extLst>
          </p:cNvPr>
          <p:cNvSpPr txBox="1"/>
          <p:nvPr/>
        </p:nvSpPr>
        <p:spPr>
          <a:xfrm>
            <a:off x="10354064" y="1145233"/>
            <a:ext cx="9501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Country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-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44" y="914400"/>
            <a:ext cx="3570796" cy="313932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767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PET BOWLS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C9B892"/>
          </a:solidFill>
          <a:ln>
            <a:solidFill>
              <a:srgbClr val="C9B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0" y="914400"/>
            <a:ext cx="7040880" cy="1234440"/>
          </a:xfrm>
          <a:prstGeom prst="roundRect">
            <a:avLst/>
          </a:prstGeom>
          <a:solidFill>
            <a:srgbClr val="F8F6F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143000"/>
            <a:ext cx="10759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Item Number</a:t>
            </a:r>
          </a:p>
          <a:p>
            <a:r>
              <a:rPr sz="1300" dirty="0">
                <a:solidFill>
                  <a:srgbClr val="696969"/>
                </a:solidFill>
              </a:rPr>
              <a:t>5325891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8177" y="1143000"/>
            <a:ext cx="707310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Color</a:t>
            </a:r>
          </a:p>
          <a:p>
            <a:r>
              <a:rPr sz="1200" dirty="0">
                <a:solidFill>
                  <a:srgbClr val="696969"/>
                </a:solidFill>
              </a:rPr>
              <a:t>Clear, Black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1822" y="1149698"/>
            <a:ext cx="7359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Retail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$39.99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743200"/>
            <a:ext cx="7040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907792"/>
            <a:ext cx="6675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Top Paw® Stackable Storage Containers - 2 Containers &amp; 2 Scoops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MATERIAL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663440"/>
            <a:ext cx="3931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3456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Plastic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DIMENSIONS &amp; SPECIFICATIONS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663440"/>
            <a:ext cx="7040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4846320"/>
            <a:ext cx="6629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31 in L &amp; 11.3 in L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3C72C0-F14E-AE6C-05B1-D855F2B7A75A}"/>
              </a:ext>
            </a:extLst>
          </p:cNvPr>
          <p:cNvSpPr/>
          <p:nvPr/>
        </p:nvSpPr>
        <p:spPr>
          <a:xfrm>
            <a:off x="406844" y="914400"/>
            <a:ext cx="3570796" cy="3108960"/>
          </a:xfrm>
          <a:prstGeom prst="rect">
            <a:avLst/>
          </a:prstGeom>
          <a:solidFill>
            <a:srgbClr val="F8F6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D96B28-6F81-F84A-72AB-0C2FA85D90A9}"/>
              </a:ext>
            </a:extLst>
          </p:cNvPr>
          <p:cNvSpPr txBox="1"/>
          <p:nvPr/>
        </p:nvSpPr>
        <p:spPr>
          <a:xfrm>
            <a:off x="406844" y="914400"/>
            <a:ext cx="35707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29277-50CE-9475-3068-8A42F5E4200E}"/>
              </a:ext>
            </a:extLst>
          </p:cNvPr>
          <p:cNvSpPr txBox="1"/>
          <p:nvPr/>
        </p:nvSpPr>
        <p:spPr>
          <a:xfrm>
            <a:off x="10354064" y="1145233"/>
            <a:ext cx="9501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Country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-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44" y="914400"/>
            <a:ext cx="3570796" cy="313932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767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PET BOWLS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C9B892"/>
          </a:solidFill>
          <a:ln>
            <a:solidFill>
              <a:srgbClr val="C9B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0" y="914400"/>
            <a:ext cx="7040880" cy="1234440"/>
          </a:xfrm>
          <a:prstGeom prst="roundRect">
            <a:avLst/>
          </a:prstGeom>
          <a:solidFill>
            <a:srgbClr val="F8F6F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143000"/>
            <a:ext cx="10759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Item Number</a:t>
            </a:r>
          </a:p>
          <a:p>
            <a:r>
              <a:rPr sz="1300" dirty="0">
                <a:solidFill>
                  <a:srgbClr val="696969"/>
                </a:solidFill>
              </a:rPr>
              <a:t>5214246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8177" y="1143000"/>
            <a:ext cx="707310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Color</a:t>
            </a:r>
          </a:p>
          <a:p>
            <a:r>
              <a:rPr sz="1200" dirty="0">
                <a:solidFill>
                  <a:srgbClr val="696969"/>
                </a:solidFill>
              </a:rPr>
              <a:t>Silver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1822" y="1149698"/>
            <a:ext cx="7359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Retail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$62.99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743200"/>
            <a:ext cx="7040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907792"/>
            <a:ext cx="6675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Petmate® Mason Jar Replenishing Pet Waterer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MATERIAL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663440"/>
            <a:ext cx="3931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3456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BPA Free Plastic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DIMENSIONS &amp; SPECIFICATIONS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663440"/>
            <a:ext cx="7040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4846320"/>
            <a:ext cx="6629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17.24 x 10.28 x 17.73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3C72C0-F14E-AE6C-05B1-D855F2B7A75A}"/>
              </a:ext>
            </a:extLst>
          </p:cNvPr>
          <p:cNvSpPr/>
          <p:nvPr/>
        </p:nvSpPr>
        <p:spPr>
          <a:xfrm>
            <a:off x="406844" y="914400"/>
            <a:ext cx="3570796" cy="3108960"/>
          </a:xfrm>
          <a:prstGeom prst="rect">
            <a:avLst/>
          </a:prstGeom>
          <a:solidFill>
            <a:srgbClr val="F8F6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D96B28-6F81-F84A-72AB-0C2FA85D90A9}"/>
              </a:ext>
            </a:extLst>
          </p:cNvPr>
          <p:cNvSpPr txBox="1"/>
          <p:nvPr/>
        </p:nvSpPr>
        <p:spPr>
          <a:xfrm>
            <a:off x="406844" y="914400"/>
            <a:ext cx="35707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29277-50CE-9475-3068-8A42F5E4200E}"/>
              </a:ext>
            </a:extLst>
          </p:cNvPr>
          <p:cNvSpPr txBox="1"/>
          <p:nvPr/>
        </p:nvSpPr>
        <p:spPr>
          <a:xfrm>
            <a:off x="10354064" y="1145233"/>
            <a:ext cx="9501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Country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-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44" y="914400"/>
            <a:ext cx="3570796" cy="313932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767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PET BOWLS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C9B892"/>
          </a:solidFill>
          <a:ln>
            <a:solidFill>
              <a:srgbClr val="C9B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0" y="914400"/>
            <a:ext cx="7040880" cy="1234440"/>
          </a:xfrm>
          <a:prstGeom prst="roundRect">
            <a:avLst/>
          </a:prstGeom>
          <a:solidFill>
            <a:srgbClr val="F8F6F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143000"/>
            <a:ext cx="10759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Item Number</a:t>
            </a:r>
          </a:p>
          <a:p>
            <a:r>
              <a:rPr sz="1300" dirty="0">
                <a:solidFill>
                  <a:srgbClr val="696969"/>
                </a:solidFill>
              </a:rPr>
              <a:t>5366805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8177" y="1143000"/>
            <a:ext cx="707310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Color</a:t>
            </a:r>
          </a:p>
          <a:p>
            <a:r>
              <a:rPr sz="1200" dirty="0">
                <a:solidFill>
                  <a:srgbClr val="696969"/>
                </a:solidFill>
              </a:rPr>
              <a:t>Green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1822" y="1149698"/>
            <a:ext cx="7359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Retail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$15.99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743200"/>
            <a:ext cx="7040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907792"/>
            <a:ext cx="6675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Outward Hound Fun Feeder Slow Bowl Peace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MATERIAL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663440"/>
            <a:ext cx="3931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3456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-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DIMENSIONS &amp; SPECIFICATIONS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663440"/>
            <a:ext cx="7040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4846320"/>
            <a:ext cx="6629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9.09 x 8.66 x 1.42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3C72C0-F14E-AE6C-05B1-D855F2B7A75A}"/>
              </a:ext>
            </a:extLst>
          </p:cNvPr>
          <p:cNvSpPr/>
          <p:nvPr/>
        </p:nvSpPr>
        <p:spPr>
          <a:xfrm>
            <a:off x="406844" y="914400"/>
            <a:ext cx="3570796" cy="3108960"/>
          </a:xfrm>
          <a:prstGeom prst="rect">
            <a:avLst/>
          </a:prstGeom>
          <a:solidFill>
            <a:srgbClr val="F8F6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D96B28-6F81-F84A-72AB-0C2FA85D90A9}"/>
              </a:ext>
            </a:extLst>
          </p:cNvPr>
          <p:cNvSpPr txBox="1"/>
          <p:nvPr/>
        </p:nvSpPr>
        <p:spPr>
          <a:xfrm>
            <a:off x="406844" y="914400"/>
            <a:ext cx="35707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29277-50CE-9475-3068-8A42F5E4200E}"/>
              </a:ext>
            </a:extLst>
          </p:cNvPr>
          <p:cNvSpPr txBox="1"/>
          <p:nvPr/>
        </p:nvSpPr>
        <p:spPr>
          <a:xfrm>
            <a:off x="10354064" y="1145233"/>
            <a:ext cx="9501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Country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-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44" y="914400"/>
            <a:ext cx="3570796" cy="313932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767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PET BOWLS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C9B892"/>
          </a:solidFill>
          <a:ln>
            <a:solidFill>
              <a:srgbClr val="C9B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0" y="914400"/>
            <a:ext cx="7040880" cy="1234440"/>
          </a:xfrm>
          <a:prstGeom prst="roundRect">
            <a:avLst/>
          </a:prstGeom>
          <a:solidFill>
            <a:srgbClr val="F8F6F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143000"/>
            <a:ext cx="10759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Item Number</a:t>
            </a:r>
          </a:p>
          <a:p>
            <a:r>
              <a:rPr sz="1300" dirty="0">
                <a:solidFill>
                  <a:srgbClr val="696969"/>
                </a:solidFill>
              </a:rPr>
              <a:t>5357767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8177" y="1143000"/>
            <a:ext cx="707310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Color</a:t>
            </a:r>
          </a:p>
          <a:p>
            <a:r>
              <a:rPr sz="1200" dirty="0">
                <a:solidFill>
                  <a:srgbClr val="696969"/>
                </a:solidFill>
              </a:rPr>
              <a:t>Grey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1822" y="1149698"/>
            <a:ext cx="7359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Retail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$16.99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743200"/>
            <a:ext cx="7040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907792"/>
            <a:ext cx="6675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Top Paw® Crate Crock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MATERIAL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663440"/>
            <a:ext cx="3931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3456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Plastic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DIMENSIONS &amp; SPECIFICATIONS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663440"/>
            <a:ext cx="7040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4846320"/>
            <a:ext cx="6629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5.4 X 6.1 X 5.3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3C72C0-F14E-AE6C-05B1-D855F2B7A75A}"/>
              </a:ext>
            </a:extLst>
          </p:cNvPr>
          <p:cNvSpPr/>
          <p:nvPr/>
        </p:nvSpPr>
        <p:spPr>
          <a:xfrm>
            <a:off x="406844" y="914400"/>
            <a:ext cx="3570796" cy="3108960"/>
          </a:xfrm>
          <a:prstGeom prst="rect">
            <a:avLst/>
          </a:prstGeom>
          <a:solidFill>
            <a:srgbClr val="F8F6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D96B28-6F81-F84A-72AB-0C2FA85D90A9}"/>
              </a:ext>
            </a:extLst>
          </p:cNvPr>
          <p:cNvSpPr txBox="1"/>
          <p:nvPr/>
        </p:nvSpPr>
        <p:spPr>
          <a:xfrm>
            <a:off x="406844" y="914400"/>
            <a:ext cx="35707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29277-50CE-9475-3068-8A42F5E4200E}"/>
              </a:ext>
            </a:extLst>
          </p:cNvPr>
          <p:cNvSpPr txBox="1"/>
          <p:nvPr/>
        </p:nvSpPr>
        <p:spPr>
          <a:xfrm>
            <a:off x="10354064" y="1145233"/>
            <a:ext cx="9501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Country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-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44" y="914400"/>
            <a:ext cx="3570796" cy="313932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767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PET BOWLS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C9B892"/>
          </a:solidFill>
          <a:ln>
            <a:solidFill>
              <a:srgbClr val="C9B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0" y="914400"/>
            <a:ext cx="7040880" cy="1234440"/>
          </a:xfrm>
          <a:prstGeom prst="roundRect">
            <a:avLst/>
          </a:prstGeom>
          <a:solidFill>
            <a:srgbClr val="F8F6F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143000"/>
            <a:ext cx="10759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Item Number</a:t>
            </a:r>
          </a:p>
          <a:p>
            <a:r>
              <a:rPr sz="1300" dirty="0">
                <a:solidFill>
                  <a:srgbClr val="696969"/>
                </a:solidFill>
              </a:rPr>
              <a:t>5343219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8177" y="1143000"/>
            <a:ext cx="707310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Color</a:t>
            </a:r>
          </a:p>
          <a:p>
            <a:r>
              <a:rPr sz="1200" dirty="0">
                <a:solidFill>
                  <a:srgbClr val="696969"/>
                </a:solidFill>
              </a:rPr>
              <a:t>Grey, Clear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1822" y="1149698"/>
            <a:ext cx="7359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Retail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$19.99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743200"/>
            <a:ext cx="7040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907792"/>
            <a:ext cx="6675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Top Paw® No-Drip Water Bottle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MATERIAL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663440"/>
            <a:ext cx="3931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3456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Plastic, Stainless Steel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DIMENSIONS &amp; SPECIFICATIONS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663440"/>
            <a:ext cx="7040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4846320"/>
            <a:ext cx="6629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-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3C72C0-F14E-AE6C-05B1-D855F2B7A75A}"/>
              </a:ext>
            </a:extLst>
          </p:cNvPr>
          <p:cNvSpPr/>
          <p:nvPr/>
        </p:nvSpPr>
        <p:spPr>
          <a:xfrm>
            <a:off x="406844" y="914400"/>
            <a:ext cx="3570796" cy="3108960"/>
          </a:xfrm>
          <a:prstGeom prst="rect">
            <a:avLst/>
          </a:prstGeom>
          <a:solidFill>
            <a:srgbClr val="F8F6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D96B28-6F81-F84A-72AB-0C2FA85D90A9}"/>
              </a:ext>
            </a:extLst>
          </p:cNvPr>
          <p:cNvSpPr txBox="1"/>
          <p:nvPr/>
        </p:nvSpPr>
        <p:spPr>
          <a:xfrm>
            <a:off x="406844" y="914400"/>
            <a:ext cx="35707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29277-50CE-9475-3068-8A42F5E4200E}"/>
              </a:ext>
            </a:extLst>
          </p:cNvPr>
          <p:cNvSpPr txBox="1"/>
          <p:nvPr/>
        </p:nvSpPr>
        <p:spPr>
          <a:xfrm>
            <a:off x="10354064" y="1145233"/>
            <a:ext cx="9501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Country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-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44" y="914400"/>
            <a:ext cx="3570796" cy="313932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767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PET BOWLS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C9B892"/>
          </a:solidFill>
          <a:ln>
            <a:solidFill>
              <a:srgbClr val="C9B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0" y="914400"/>
            <a:ext cx="7040880" cy="1234440"/>
          </a:xfrm>
          <a:prstGeom prst="roundRect">
            <a:avLst/>
          </a:prstGeom>
          <a:solidFill>
            <a:srgbClr val="F8F6F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143000"/>
            <a:ext cx="10759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Item Number</a:t>
            </a:r>
          </a:p>
          <a:p>
            <a:r>
              <a:rPr sz="1300" dirty="0">
                <a:solidFill>
                  <a:srgbClr val="696969"/>
                </a:solidFill>
              </a:rPr>
              <a:t>5292196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8177" y="1143000"/>
            <a:ext cx="707310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Color</a:t>
            </a:r>
          </a:p>
          <a:p>
            <a:r>
              <a:rPr sz="1200" dirty="0">
                <a:solidFill>
                  <a:srgbClr val="696969"/>
                </a:solidFill>
              </a:rPr>
              <a:t>Grey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1822" y="1149698"/>
            <a:ext cx="7359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Retail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$59.99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743200"/>
            <a:ext cx="7040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907792"/>
            <a:ext cx="6675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Top Paw® Elevated Double Diner Pet Feeder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MATERIAL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663440"/>
            <a:ext cx="3931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3456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-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DIMENSIONS &amp; SPECIFICATIONS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663440"/>
            <a:ext cx="7040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4846320"/>
            <a:ext cx="6629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15 in (38.1 cm)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3C72C0-F14E-AE6C-05B1-D855F2B7A75A}"/>
              </a:ext>
            </a:extLst>
          </p:cNvPr>
          <p:cNvSpPr/>
          <p:nvPr/>
        </p:nvSpPr>
        <p:spPr>
          <a:xfrm>
            <a:off x="406844" y="914400"/>
            <a:ext cx="3570796" cy="3108960"/>
          </a:xfrm>
          <a:prstGeom prst="rect">
            <a:avLst/>
          </a:prstGeom>
          <a:solidFill>
            <a:srgbClr val="F8F6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D96B28-6F81-F84A-72AB-0C2FA85D90A9}"/>
              </a:ext>
            </a:extLst>
          </p:cNvPr>
          <p:cNvSpPr txBox="1"/>
          <p:nvPr/>
        </p:nvSpPr>
        <p:spPr>
          <a:xfrm>
            <a:off x="406844" y="914400"/>
            <a:ext cx="35707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29277-50CE-9475-3068-8A42F5E4200E}"/>
              </a:ext>
            </a:extLst>
          </p:cNvPr>
          <p:cNvSpPr txBox="1"/>
          <p:nvPr/>
        </p:nvSpPr>
        <p:spPr>
          <a:xfrm>
            <a:off x="10354064" y="1145233"/>
            <a:ext cx="9501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Country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-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44" y="914400"/>
            <a:ext cx="3570796" cy="313932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767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PET BOWLS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C9B892"/>
          </a:solidFill>
          <a:ln>
            <a:solidFill>
              <a:srgbClr val="C9B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0" y="914400"/>
            <a:ext cx="7040880" cy="1234440"/>
          </a:xfrm>
          <a:prstGeom prst="roundRect">
            <a:avLst/>
          </a:prstGeom>
          <a:solidFill>
            <a:srgbClr val="F8F6F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143000"/>
            <a:ext cx="10759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Item Number</a:t>
            </a:r>
          </a:p>
          <a:p>
            <a:r>
              <a:rPr sz="1300" dirty="0">
                <a:solidFill>
                  <a:srgbClr val="696969"/>
                </a:solidFill>
              </a:rPr>
              <a:t>5320964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8177" y="1143000"/>
            <a:ext cx="707310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Color</a:t>
            </a:r>
          </a:p>
          <a:p>
            <a:r>
              <a:rPr sz="1200" dirty="0">
                <a:solidFill>
                  <a:srgbClr val="696969"/>
                </a:solidFill>
              </a:rPr>
              <a:t>Assorted colors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1822" y="1149698"/>
            <a:ext cx="7359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Retail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$3.99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743200"/>
            <a:ext cx="7040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907792"/>
            <a:ext cx="6675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Top Paw® Dog Face Pet Food Can Cover (COLOR VARIES)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MATERIAL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663440"/>
            <a:ext cx="3931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3456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Plastic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DIMENSIONS &amp; SPECIFICATIONS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663440"/>
            <a:ext cx="7040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4846320"/>
            <a:ext cx="6629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-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3C72C0-F14E-AE6C-05B1-D855F2B7A75A}"/>
              </a:ext>
            </a:extLst>
          </p:cNvPr>
          <p:cNvSpPr/>
          <p:nvPr/>
        </p:nvSpPr>
        <p:spPr>
          <a:xfrm>
            <a:off x="406844" y="914400"/>
            <a:ext cx="3570796" cy="3108960"/>
          </a:xfrm>
          <a:prstGeom prst="rect">
            <a:avLst/>
          </a:prstGeom>
          <a:solidFill>
            <a:srgbClr val="F8F6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D96B28-6F81-F84A-72AB-0C2FA85D90A9}"/>
              </a:ext>
            </a:extLst>
          </p:cNvPr>
          <p:cNvSpPr txBox="1"/>
          <p:nvPr/>
        </p:nvSpPr>
        <p:spPr>
          <a:xfrm>
            <a:off x="406844" y="914400"/>
            <a:ext cx="35707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29277-50CE-9475-3068-8A42F5E4200E}"/>
              </a:ext>
            </a:extLst>
          </p:cNvPr>
          <p:cNvSpPr txBox="1"/>
          <p:nvPr/>
        </p:nvSpPr>
        <p:spPr>
          <a:xfrm>
            <a:off x="10354064" y="1145233"/>
            <a:ext cx="9501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Country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-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44" y="914400"/>
            <a:ext cx="3570796" cy="313932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767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PET BOWLS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C9B892"/>
          </a:solidFill>
          <a:ln>
            <a:solidFill>
              <a:srgbClr val="C9B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0" y="914400"/>
            <a:ext cx="7040880" cy="1234440"/>
          </a:xfrm>
          <a:prstGeom prst="roundRect">
            <a:avLst/>
          </a:prstGeom>
          <a:solidFill>
            <a:srgbClr val="F8F6F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143000"/>
            <a:ext cx="10759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Item Number</a:t>
            </a:r>
          </a:p>
          <a:p>
            <a:r>
              <a:rPr sz="1300" dirty="0">
                <a:solidFill>
                  <a:srgbClr val="696969"/>
                </a:solidFill>
              </a:rPr>
              <a:t>5270308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8177" y="1143000"/>
            <a:ext cx="707310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Color</a:t>
            </a:r>
          </a:p>
          <a:p>
            <a:r>
              <a:rPr sz="1200" dirty="0">
                <a:solidFill>
                  <a:srgbClr val="696969"/>
                </a:solidFill>
              </a:rPr>
              <a:t>Grey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1822" y="1149698"/>
            <a:ext cx="7359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Retail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$11.99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743200"/>
            <a:ext cx="7040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907792"/>
            <a:ext cx="6675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Petmate® No Spill Kennel Cup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MATERIAL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663440"/>
            <a:ext cx="3931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3456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Plastic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DIMENSIONS &amp; SPECIFICATIONS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663440"/>
            <a:ext cx="7040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4846320"/>
            <a:ext cx="6629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-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3C72C0-F14E-AE6C-05B1-D855F2B7A75A}"/>
              </a:ext>
            </a:extLst>
          </p:cNvPr>
          <p:cNvSpPr/>
          <p:nvPr/>
        </p:nvSpPr>
        <p:spPr>
          <a:xfrm>
            <a:off x="406844" y="914400"/>
            <a:ext cx="3570796" cy="3108960"/>
          </a:xfrm>
          <a:prstGeom prst="rect">
            <a:avLst/>
          </a:prstGeom>
          <a:solidFill>
            <a:srgbClr val="F8F6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D96B28-6F81-F84A-72AB-0C2FA85D90A9}"/>
              </a:ext>
            </a:extLst>
          </p:cNvPr>
          <p:cNvSpPr txBox="1"/>
          <p:nvPr/>
        </p:nvSpPr>
        <p:spPr>
          <a:xfrm>
            <a:off x="406844" y="914400"/>
            <a:ext cx="35707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29277-50CE-9475-3068-8A42F5E4200E}"/>
              </a:ext>
            </a:extLst>
          </p:cNvPr>
          <p:cNvSpPr txBox="1"/>
          <p:nvPr/>
        </p:nvSpPr>
        <p:spPr>
          <a:xfrm>
            <a:off x="10354064" y="1145233"/>
            <a:ext cx="9501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Country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-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44" y="914400"/>
            <a:ext cx="3570796" cy="313932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767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PET BOWLS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C9B892"/>
          </a:solidFill>
          <a:ln>
            <a:solidFill>
              <a:srgbClr val="C9B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0" y="914400"/>
            <a:ext cx="7040880" cy="1234440"/>
          </a:xfrm>
          <a:prstGeom prst="roundRect">
            <a:avLst/>
          </a:prstGeom>
          <a:solidFill>
            <a:srgbClr val="F8F6F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143000"/>
            <a:ext cx="10759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Item Number</a:t>
            </a:r>
          </a:p>
          <a:p>
            <a:r>
              <a:rPr sz="1300" dirty="0">
                <a:solidFill>
                  <a:srgbClr val="696969"/>
                </a:solidFill>
              </a:rPr>
              <a:t>5367329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8177" y="1143000"/>
            <a:ext cx="707310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Color</a:t>
            </a:r>
          </a:p>
          <a:p>
            <a:r>
              <a:rPr sz="1200" dirty="0">
                <a:solidFill>
                  <a:srgbClr val="696969"/>
                </a:solidFill>
              </a:rPr>
              <a:t>Brown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1822" y="1149698"/>
            <a:ext cx="7359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Retail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$64.99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743200"/>
            <a:ext cx="7040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907792"/>
            <a:ext cx="6675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Top Paw® Adjustable BPA Free Double Diner with 2 Bowls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MATERIAL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663440"/>
            <a:ext cx="3931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3456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Wood, Stainless Steel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DIMENSIONS &amp; SPECIFICATIONS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663440"/>
            <a:ext cx="7040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4846320"/>
            <a:ext cx="6629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Each Overall Height: 3.2 IN, 8.6 IN, 12.5 IN (8.2 cm, 21.8 cm, 31.7 cm)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3C72C0-F14E-AE6C-05B1-D855F2B7A75A}"/>
              </a:ext>
            </a:extLst>
          </p:cNvPr>
          <p:cNvSpPr/>
          <p:nvPr/>
        </p:nvSpPr>
        <p:spPr>
          <a:xfrm>
            <a:off x="406844" y="914400"/>
            <a:ext cx="3570796" cy="3108960"/>
          </a:xfrm>
          <a:prstGeom prst="rect">
            <a:avLst/>
          </a:prstGeom>
          <a:solidFill>
            <a:srgbClr val="F8F6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D96B28-6F81-F84A-72AB-0C2FA85D90A9}"/>
              </a:ext>
            </a:extLst>
          </p:cNvPr>
          <p:cNvSpPr txBox="1"/>
          <p:nvPr/>
        </p:nvSpPr>
        <p:spPr>
          <a:xfrm>
            <a:off x="406844" y="914400"/>
            <a:ext cx="35707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29277-50CE-9475-3068-8A42F5E4200E}"/>
              </a:ext>
            </a:extLst>
          </p:cNvPr>
          <p:cNvSpPr txBox="1"/>
          <p:nvPr/>
        </p:nvSpPr>
        <p:spPr>
          <a:xfrm>
            <a:off x="10354064" y="1145233"/>
            <a:ext cx="9501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Country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-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44" y="914400"/>
            <a:ext cx="3570796" cy="313932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767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PET BOWLS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C9B892"/>
          </a:solidFill>
          <a:ln>
            <a:solidFill>
              <a:srgbClr val="C9B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0" y="914400"/>
            <a:ext cx="7040880" cy="1234440"/>
          </a:xfrm>
          <a:prstGeom prst="roundRect">
            <a:avLst/>
          </a:prstGeom>
          <a:solidFill>
            <a:srgbClr val="F8F6F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143000"/>
            <a:ext cx="10759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Item Number</a:t>
            </a:r>
          </a:p>
          <a:p>
            <a:r>
              <a:rPr sz="1300" dirty="0">
                <a:solidFill>
                  <a:srgbClr val="696969"/>
                </a:solidFill>
              </a:rPr>
              <a:t>5366865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8177" y="1143000"/>
            <a:ext cx="707310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Color</a:t>
            </a:r>
          </a:p>
          <a:p>
            <a:r>
              <a:rPr sz="1200" dirty="0">
                <a:solidFill>
                  <a:srgbClr val="696969"/>
                </a:solidFill>
              </a:rPr>
              <a:t>White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1822" y="1149698"/>
            <a:ext cx="7359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Retail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$79.99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743200"/>
            <a:ext cx="7040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907792"/>
            <a:ext cx="6675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Top Paw® Flowing Fountain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MATERIAL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663440"/>
            <a:ext cx="3931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3456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Plastic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DIMENSIONS &amp; SPECIFICATIONS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663440"/>
            <a:ext cx="7040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4846320"/>
            <a:ext cx="6629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-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3C72C0-F14E-AE6C-05B1-D855F2B7A75A}"/>
              </a:ext>
            </a:extLst>
          </p:cNvPr>
          <p:cNvSpPr/>
          <p:nvPr/>
        </p:nvSpPr>
        <p:spPr>
          <a:xfrm>
            <a:off x="406844" y="914400"/>
            <a:ext cx="3570796" cy="3108960"/>
          </a:xfrm>
          <a:prstGeom prst="rect">
            <a:avLst/>
          </a:prstGeom>
          <a:solidFill>
            <a:srgbClr val="F8F6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D96B28-6F81-F84A-72AB-0C2FA85D90A9}"/>
              </a:ext>
            </a:extLst>
          </p:cNvPr>
          <p:cNvSpPr txBox="1"/>
          <p:nvPr/>
        </p:nvSpPr>
        <p:spPr>
          <a:xfrm>
            <a:off x="406844" y="914400"/>
            <a:ext cx="35707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29277-50CE-9475-3068-8A42F5E4200E}"/>
              </a:ext>
            </a:extLst>
          </p:cNvPr>
          <p:cNvSpPr txBox="1"/>
          <p:nvPr/>
        </p:nvSpPr>
        <p:spPr>
          <a:xfrm>
            <a:off x="10354064" y="1145233"/>
            <a:ext cx="9501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Country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-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44" y="914400"/>
            <a:ext cx="3570796" cy="313932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767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PET BOWLS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C9B892"/>
          </a:solidFill>
          <a:ln>
            <a:solidFill>
              <a:srgbClr val="C9B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0" y="914400"/>
            <a:ext cx="7040880" cy="1234440"/>
          </a:xfrm>
          <a:prstGeom prst="roundRect">
            <a:avLst/>
          </a:prstGeom>
          <a:solidFill>
            <a:srgbClr val="F8F6F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143000"/>
            <a:ext cx="10759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Item Number</a:t>
            </a:r>
          </a:p>
          <a:p>
            <a:r>
              <a:rPr sz="1300" dirty="0">
                <a:solidFill>
                  <a:srgbClr val="696969"/>
                </a:solidFill>
              </a:rPr>
              <a:t>5366644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8177" y="1143000"/>
            <a:ext cx="707310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Color</a:t>
            </a:r>
          </a:p>
          <a:p>
            <a:r>
              <a:rPr sz="1200" dirty="0">
                <a:solidFill>
                  <a:srgbClr val="696969"/>
                </a:solidFill>
              </a:rPr>
              <a:t>Pink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1822" y="1149698"/>
            <a:ext cx="7359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Retail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$21.99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743200"/>
            <a:ext cx="7040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907792"/>
            <a:ext cx="6675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Outward Hound Ying Yang Slow Feeder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MATERIAL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663440"/>
            <a:ext cx="3931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3456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-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DIMENSIONS &amp; SPECIFICATIONS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663440"/>
            <a:ext cx="7040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4846320"/>
            <a:ext cx="6629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Bowl: 10.75 x 10.51 x 1.79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3C72C0-F14E-AE6C-05B1-D855F2B7A75A}"/>
              </a:ext>
            </a:extLst>
          </p:cNvPr>
          <p:cNvSpPr/>
          <p:nvPr/>
        </p:nvSpPr>
        <p:spPr>
          <a:xfrm>
            <a:off x="406844" y="914400"/>
            <a:ext cx="3570796" cy="3108960"/>
          </a:xfrm>
          <a:prstGeom prst="rect">
            <a:avLst/>
          </a:prstGeom>
          <a:solidFill>
            <a:srgbClr val="F8F6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D96B28-6F81-F84A-72AB-0C2FA85D90A9}"/>
              </a:ext>
            </a:extLst>
          </p:cNvPr>
          <p:cNvSpPr txBox="1"/>
          <p:nvPr/>
        </p:nvSpPr>
        <p:spPr>
          <a:xfrm>
            <a:off x="406844" y="914400"/>
            <a:ext cx="35707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29277-50CE-9475-3068-8A42F5E4200E}"/>
              </a:ext>
            </a:extLst>
          </p:cNvPr>
          <p:cNvSpPr txBox="1"/>
          <p:nvPr/>
        </p:nvSpPr>
        <p:spPr>
          <a:xfrm>
            <a:off x="10354064" y="1145233"/>
            <a:ext cx="9501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Country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-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44" y="914400"/>
            <a:ext cx="3570796" cy="313932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767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PET BOWLS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C9B892"/>
          </a:solidFill>
          <a:ln>
            <a:solidFill>
              <a:srgbClr val="C9B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0" y="914400"/>
            <a:ext cx="7040880" cy="1234440"/>
          </a:xfrm>
          <a:prstGeom prst="roundRect">
            <a:avLst/>
          </a:prstGeom>
          <a:solidFill>
            <a:srgbClr val="F8F6F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143000"/>
            <a:ext cx="10759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Item Number</a:t>
            </a:r>
          </a:p>
          <a:p>
            <a:r>
              <a:rPr sz="1300" dirty="0">
                <a:solidFill>
                  <a:srgbClr val="696969"/>
                </a:solidFill>
              </a:rPr>
              <a:t>5357765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8177" y="1143000"/>
            <a:ext cx="707310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Color</a:t>
            </a:r>
          </a:p>
          <a:p>
            <a:r>
              <a:rPr sz="1200" dirty="0">
                <a:solidFill>
                  <a:srgbClr val="696969"/>
                </a:solidFill>
              </a:rPr>
              <a:t>Silver, Gray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1822" y="1149698"/>
            <a:ext cx="7359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Retail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$19.99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743200"/>
            <a:ext cx="7040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907792"/>
            <a:ext cx="6675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Top Paw® Crate Crock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MATERIAL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663440"/>
            <a:ext cx="3931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3456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Stainless Steel, Plastic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DIMENSIONS &amp; SPECIFICATIONS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663440"/>
            <a:ext cx="7040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4846320"/>
            <a:ext cx="6629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4⅞ in x 4⅞ in x 3⅝ in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3C72C0-F14E-AE6C-05B1-D855F2B7A75A}"/>
              </a:ext>
            </a:extLst>
          </p:cNvPr>
          <p:cNvSpPr/>
          <p:nvPr/>
        </p:nvSpPr>
        <p:spPr>
          <a:xfrm>
            <a:off x="406844" y="914400"/>
            <a:ext cx="3570796" cy="3108960"/>
          </a:xfrm>
          <a:prstGeom prst="rect">
            <a:avLst/>
          </a:prstGeom>
          <a:solidFill>
            <a:srgbClr val="F8F6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D96B28-6F81-F84A-72AB-0C2FA85D90A9}"/>
              </a:ext>
            </a:extLst>
          </p:cNvPr>
          <p:cNvSpPr txBox="1"/>
          <p:nvPr/>
        </p:nvSpPr>
        <p:spPr>
          <a:xfrm>
            <a:off x="406844" y="914400"/>
            <a:ext cx="35707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29277-50CE-9475-3068-8A42F5E4200E}"/>
              </a:ext>
            </a:extLst>
          </p:cNvPr>
          <p:cNvSpPr txBox="1"/>
          <p:nvPr/>
        </p:nvSpPr>
        <p:spPr>
          <a:xfrm>
            <a:off x="10354064" y="1145233"/>
            <a:ext cx="9501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Country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-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44" y="914400"/>
            <a:ext cx="3570796" cy="3139321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767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PET BOWLS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C9B892"/>
          </a:solidFill>
          <a:ln>
            <a:solidFill>
              <a:srgbClr val="C9B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0" y="914400"/>
            <a:ext cx="7040880" cy="1234440"/>
          </a:xfrm>
          <a:prstGeom prst="roundRect">
            <a:avLst/>
          </a:prstGeom>
          <a:solidFill>
            <a:srgbClr val="F8F6F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143000"/>
            <a:ext cx="10759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Item Number</a:t>
            </a:r>
          </a:p>
          <a:p>
            <a:r>
              <a:rPr sz="1300" dirty="0">
                <a:solidFill>
                  <a:srgbClr val="696969"/>
                </a:solidFill>
              </a:rPr>
              <a:t>5347802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8177" y="1143000"/>
            <a:ext cx="707310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Color</a:t>
            </a:r>
          </a:p>
          <a:p>
            <a:r>
              <a:rPr sz="1200" dirty="0">
                <a:solidFill>
                  <a:srgbClr val="696969"/>
                </a:solidFill>
              </a:rPr>
              <a:t>Color of diner may vary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1822" y="1149698"/>
            <a:ext cx="7359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Retail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$59.99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743200"/>
            <a:ext cx="7040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907792"/>
            <a:ext cx="6675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Top Paw® Adjustable Double Diner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MATERIAL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663440"/>
            <a:ext cx="3931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3456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Wood, Steel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DIMENSIONS &amp; SPECIFICATIONS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663440"/>
            <a:ext cx="7040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4846320"/>
            <a:ext cx="6629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Overall Height: 3.2 in, 8.6 in, 12.5 in (8.2 cm, 21.8 cm, 31.7 cm)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3C72C0-F14E-AE6C-05B1-D855F2B7A75A}"/>
              </a:ext>
            </a:extLst>
          </p:cNvPr>
          <p:cNvSpPr/>
          <p:nvPr/>
        </p:nvSpPr>
        <p:spPr>
          <a:xfrm>
            <a:off x="406844" y="914400"/>
            <a:ext cx="3570796" cy="3108960"/>
          </a:xfrm>
          <a:prstGeom prst="rect">
            <a:avLst/>
          </a:prstGeom>
          <a:solidFill>
            <a:srgbClr val="F8F6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D96B28-6F81-F84A-72AB-0C2FA85D90A9}"/>
              </a:ext>
            </a:extLst>
          </p:cNvPr>
          <p:cNvSpPr txBox="1"/>
          <p:nvPr/>
        </p:nvSpPr>
        <p:spPr>
          <a:xfrm>
            <a:off x="406844" y="914400"/>
            <a:ext cx="35707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29277-50CE-9475-3068-8A42F5E4200E}"/>
              </a:ext>
            </a:extLst>
          </p:cNvPr>
          <p:cNvSpPr txBox="1"/>
          <p:nvPr/>
        </p:nvSpPr>
        <p:spPr>
          <a:xfrm>
            <a:off x="10354064" y="1145233"/>
            <a:ext cx="9501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Country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-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44" y="914400"/>
            <a:ext cx="3570796" cy="3139321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767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PET BOWLS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C9B892"/>
          </a:solidFill>
          <a:ln>
            <a:solidFill>
              <a:srgbClr val="C9B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0" y="914400"/>
            <a:ext cx="7040880" cy="1234440"/>
          </a:xfrm>
          <a:prstGeom prst="roundRect">
            <a:avLst/>
          </a:prstGeom>
          <a:solidFill>
            <a:srgbClr val="F8F6F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143000"/>
            <a:ext cx="10759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Item Number</a:t>
            </a:r>
          </a:p>
          <a:p>
            <a:r>
              <a:rPr sz="1300" dirty="0">
                <a:solidFill>
                  <a:srgbClr val="696969"/>
                </a:solidFill>
              </a:rPr>
              <a:t>5320963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8177" y="1143000"/>
            <a:ext cx="707310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Color</a:t>
            </a:r>
          </a:p>
          <a:p>
            <a:r>
              <a:rPr sz="1200" dirty="0">
                <a:solidFill>
                  <a:srgbClr val="696969"/>
                </a:solidFill>
              </a:rPr>
              <a:t>Grey, Pink, &amp; Blue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1822" y="1149698"/>
            <a:ext cx="7359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Retail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$8.99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743200"/>
            <a:ext cx="7040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907792"/>
            <a:ext cx="6675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Top Paw® Dog Face Pet Food Can Covers - 3 Pack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MATERIAL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663440"/>
            <a:ext cx="3931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3456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Plastic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DIMENSIONS &amp; SPECIFICATIONS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663440"/>
            <a:ext cx="7040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4846320"/>
            <a:ext cx="6629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-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3C72C0-F14E-AE6C-05B1-D855F2B7A75A}"/>
              </a:ext>
            </a:extLst>
          </p:cNvPr>
          <p:cNvSpPr/>
          <p:nvPr/>
        </p:nvSpPr>
        <p:spPr>
          <a:xfrm>
            <a:off x="406844" y="914400"/>
            <a:ext cx="3570796" cy="3108960"/>
          </a:xfrm>
          <a:prstGeom prst="rect">
            <a:avLst/>
          </a:prstGeom>
          <a:solidFill>
            <a:srgbClr val="F8F6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D96B28-6F81-F84A-72AB-0C2FA85D90A9}"/>
              </a:ext>
            </a:extLst>
          </p:cNvPr>
          <p:cNvSpPr txBox="1"/>
          <p:nvPr/>
        </p:nvSpPr>
        <p:spPr>
          <a:xfrm>
            <a:off x="406844" y="914400"/>
            <a:ext cx="35707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29277-50CE-9475-3068-8A42F5E4200E}"/>
              </a:ext>
            </a:extLst>
          </p:cNvPr>
          <p:cNvSpPr txBox="1"/>
          <p:nvPr/>
        </p:nvSpPr>
        <p:spPr>
          <a:xfrm>
            <a:off x="10354064" y="1145233"/>
            <a:ext cx="9501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Country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-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44" y="914400"/>
            <a:ext cx="3570796" cy="3139321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767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PET BOWLS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C9B892"/>
          </a:solidFill>
          <a:ln>
            <a:solidFill>
              <a:srgbClr val="C9B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0" y="914400"/>
            <a:ext cx="7040880" cy="1234440"/>
          </a:xfrm>
          <a:prstGeom prst="roundRect">
            <a:avLst/>
          </a:prstGeom>
          <a:solidFill>
            <a:srgbClr val="F8F6F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143000"/>
            <a:ext cx="10759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Item Number</a:t>
            </a:r>
          </a:p>
          <a:p>
            <a:r>
              <a:rPr sz="1300" dirty="0">
                <a:solidFill>
                  <a:srgbClr val="696969"/>
                </a:solidFill>
              </a:rPr>
              <a:t>5309259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8177" y="1143000"/>
            <a:ext cx="707310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Color</a:t>
            </a:r>
          </a:p>
          <a:p>
            <a:r>
              <a:rPr sz="1200" dirty="0">
                <a:solidFill>
                  <a:srgbClr val="696969"/>
                </a:solidFill>
              </a:rPr>
              <a:t>Black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1822" y="1149698"/>
            <a:ext cx="7359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Retail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$49.99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743200"/>
            <a:ext cx="7040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907792"/>
            <a:ext cx="6675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Top Paw® Elevated Double Diner Pet Feeder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MATERIAL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663440"/>
            <a:ext cx="3931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3456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Plastic, Stainless Steel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DIMENSIONS &amp; SPECIFICATIONS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663440"/>
            <a:ext cx="7040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4846320"/>
            <a:ext cx="6629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Overall Height: 12 in (30.4 cm)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3C72C0-F14E-AE6C-05B1-D855F2B7A75A}"/>
              </a:ext>
            </a:extLst>
          </p:cNvPr>
          <p:cNvSpPr/>
          <p:nvPr/>
        </p:nvSpPr>
        <p:spPr>
          <a:xfrm>
            <a:off x="406844" y="914400"/>
            <a:ext cx="3570796" cy="3108960"/>
          </a:xfrm>
          <a:prstGeom prst="rect">
            <a:avLst/>
          </a:prstGeom>
          <a:solidFill>
            <a:srgbClr val="F8F6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D96B28-6F81-F84A-72AB-0C2FA85D90A9}"/>
              </a:ext>
            </a:extLst>
          </p:cNvPr>
          <p:cNvSpPr txBox="1"/>
          <p:nvPr/>
        </p:nvSpPr>
        <p:spPr>
          <a:xfrm>
            <a:off x="406844" y="914400"/>
            <a:ext cx="35707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29277-50CE-9475-3068-8A42F5E4200E}"/>
              </a:ext>
            </a:extLst>
          </p:cNvPr>
          <p:cNvSpPr txBox="1"/>
          <p:nvPr/>
        </p:nvSpPr>
        <p:spPr>
          <a:xfrm>
            <a:off x="10354064" y="1145233"/>
            <a:ext cx="9501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Country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-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44" y="914400"/>
            <a:ext cx="3570796" cy="313932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767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PET BOWLS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C9B892"/>
          </a:solidFill>
          <a:ln>
            <a:solidFill>
              <a:srgbClr val="C9B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0" y="914400"/>
            <a:ext cx="7040880" cy="1234440"/>
          </a:xfrm>
          <a:prstGeom prst="roundRect">
            <a:avLst/>
          </a:prstGeom>
          <a:solidFill>
            <a:srgbClr val="F8F6F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143000"/>
            <a:ext cx="10759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Item Number</a:t>
            </a:r>
          </a:p>
          <a:p>
            <a:r>
              <a:rPr sz="1300" dirty="0">
                <a:solidFill>
                  <a:srgbClr val="696969"/>
                </a:solidFill>
              </a:rPr>
              <a:t>5302225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8177" y="1143000"/>
            <a:ext cx="707310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Color</a:t>
            </a:r>
          </a:p>
          <a:p>
            <a:r>
              <a:rPr sz="1200" dirty="0">
                <a:solidFill>
                  <a:srgbClr val="696969"/>
                </a:solidFill>
              </a:rPr>
              <a:t>Clear, Black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1822" y="1149698"/>
            <a:ext cx="7359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Retail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$25.99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743200"/>
            <a:ext cx="7040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907792"/>
            <a:ext cx="6675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Top Paw® Plastic Food Storage Dispenser with Pour Spout, BPA-Free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MATERIAL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663440"/>
            <a:ext cx="3931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3456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Plastic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DIMENSIONS &amp; SPECIFICATIONS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663440"/>
            <a:ext cx="7040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4846320"/>
            <a:ext cx="6629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21 .5 in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3C72C0-F14E-AE6C-05B1-D855F2B7A75A}"/>
              </a:ext>
            </a:extLst>
          </p:cNvPr>
          <p:cNvSpPr/>
          <p:nvPr/>
        </p:nvSpPr>
        <p:spPr>
          <a:xfrm>
            <a:off x="406844" y="914400"/>
            <a:ext cx="3570796" cy="3108960"/>
          </a:xfrm>
          <a:prstGeom prst="rect">
            <a:avLst/>
          </a:prstGeom>
          <a:solidFill>
            <a:srgbClr val="F8F6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D96B28-6F81-F84A-72AB-0C2FA85D90A9}"/>
              </a:ext>
            </a:extLst>
          </p:cNvPr>
          <p:cNvSpPr txBox="1"/>
          <p:nvPr/>
        </p:nvSpPr>
        <p:spPr>
          <a:xfrm>
            <a:off x="406844" y="914400"/>
            <a:ext cx="35707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29277-50CE-9475-3068-8A42F5E4200E}"/>
              </a:ext>
            </a:extLst>
          </p:cNvPr>
          <p:cNvSpPr txBox="1"/>
          <p:nvPr/>
        </p:nvSpPr>
        <p:spPr>
          <a:xfrm>
            <a:off x="10354064" y="1145233"/>
            <a:ext cx="9501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Country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-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44" y="914400"/>
            <a:ext cx="3570796" cy="3139321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767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PET BOWLS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C9B892"/>
          </a:solidFill>
          <a:ln>
            <a:solidFill>
              <a:srgbClr val="C9B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0" y="914400"/>
            <a:ext cx="7040880" cy="1234440"/>
          </a:xfrm>
          <a:prstGeom prst="roundRect">
            <a:avLst/>
          </a:prstGeom>
          <a:solidFill>
            <a:srgbClr val="F8F6F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143000"/>
            <a:ext cx="10759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Item Number</a:t>
            </a:r>
          </a:p>
          <a:p>
            <a:r>
              <a:rPr sz="1300" dirty="0">
                <a:solidFill>
                  <a:srgbClr val="696969"/>
                </a:solidFill>
              </a:rPr>
              <a:t>5303389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8177" y="1143000"/>
            <a:ext cx="707310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Color</a:t>
            </a:r>
          </a:p>
          <a:p>
            <a:r>
              <a:rPr sz="1200" dirty="0">
                <a:solidFill>
                  <a:srgbClr val="696969"/>
                </a:solidFill>
              </a:rPr>
              <a:t>Green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1822" y="1149698"/>
            <a:ext cx="7359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Retail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$12.99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743200"/>
            <a:ext cx="7040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907792"/>
            <a:ext cx="6675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Pet Zone Boredom Busters™ Engage Slow Feeder Licking Mat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MATERIAL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663440"/>
            <a:ext cx="3931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3456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High quality, non-toxic FDA Grade TPE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DIMENSIONS &amp; SPECIFICATIONS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663440"/>
            <a:ext cx="7040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4846320"/>
            <a:ext cx="6629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8 x 8 x .25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3C72C0-F14E-AE6C-05B1-D855F2B7A75A}"/>
              </a:ext>
            </a:extLst>
          </p:cNvPr>
          <p:cNvSpPr/>
          <p:nvPr/>
        </p:nvSpPr>
        <p:spPr>
          <a:xfrm>
            <a:off x="406844" y="914400"/>
            <a:ext cx="3570796" cy="3108960"/>
          </a:xfrm>
          <a:prstGeom prst="rect">
            <a:avLst/>
          </a:prstGeom>
          <a:solidFill>
            <a:srgbClr val="F8F6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D96B28-6F81-F84A-72AB-0C2FA85D90A9}"/>
              </a:ext>
            </a:extLst>
          </p:cNvPr>
          <p:cNvSpPr txBox="1"/>
          <p:nvPr/>
        </p:nvSpPr>
        <p:spPr>
          <a:xfrm>
            <a:off x="406844" y="914400"/>
            <a:ext cx="35707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29277-50CE-9475-3068-8A42F5E4200E}"/>
              </a:ext>
            </a:extLst>
          </p:cNvPr>
          <p:cNvSpPr txBox="1"/>
          <p:nvPr/>
        </p:nvSpPr>
        <p:spPr>
          <a:xfrm>
            <a:off x="10354064" y="1145233"/>
            <a:ext cx="9501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Country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-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44" y="914400"/>
            <a:ext cx="3570796" cy="3139321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94360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376732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</a:rPr>
              <a:t>PET BOWLS</a:t>
            </a:r>
            <a:endParaRPr sz="2400" b="1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88952" cy="54864"/>
          </a:xfrm>
          <a:prstGeom prst="rect">
            <a:avLst/>
          </a:prstGeom>
          <a:solidFill>
            <a:srgbClr val="C9B892"/>
          </a:solidFill>
          <a:ln>
            <a:solidFill>
              <a:srgbClr val="C9B8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0" y="914400"/>
            <a:ext cx="7040880" cy="1234440"/>
          </a:xfrm>
          <a:prstGeom prst="roundRect">
            <a:avLst/>
          </a:prstGeom>
          <a:solidFill>
            <a:srgbClr val="F8F6F1"/>
          </a:solidFill>
          <a:ln>
            <a:solidFill>
              <a:srgbClr val="E1E1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800600" y="1143000"/>
            <a:ext cx="10759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Item Number</a:t>
            </a:r>
          </a:p>
          <a:p>
            <a:r>
              <a:rPr sz="1300" dirty="0">
                <a:solidFill>
                  <a:srgbClr val="696969"/>
                </a:solidFill>
              </a:rPr>
              <a:t>5302393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8177" y="1143000"/>
            <a:ext cx="707310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262626"/>
                </a:solidFill>
              </a:rPr>
              <a:t>Color</a:t>
            </a:r>
          </a:p>
          <a:p>
            <a:r>
              <a:rPr sz="1200" dirty="0">
                <a:solidFill>
                  <a:srgbClr val="696969"/>
                </a:solidFill>
              </a:rPr>
              <a:t>Grey, Silver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1822" y="1149698"/>
            <a:ext cx="73590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Retail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$39.99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DESCRIPTION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743200"/>
            <a:ext cx="70408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2907792"/>
            <a:ext cx="66751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Top Paw® Grey Wood Top Folding Legs Elevated Dog Feeder, 3.5-cup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MATERIAL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663440"/>
            <a:ext cx="39319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846320"/>
            <a:ext cx="34564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Wood. Stainless Steel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891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62626"/>
                </a:solidFill>
              </a:rPr>
              <a:t>DIMENSIONS &amp; SPECIFICATIONS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4663440"/>
            <a:ext cx="70408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0" y="4846320"/>
            <a:ext cx="6629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dirty="0">
                <a:solidFill>
                  <a:srgbClr val="696969"/>
                </a:solidFill>
              </a:rPr>
              <a:t>Stand: 16.31 in L x 8.5 in W x 6.31 in H (41.4 x 21.59 x 16.03 cm)</a:t>
            </a:r>
            <a:r>
              <a:rPr lang="en-US" sz="1200" dirty="0">
                <a:solidFill>
                  <a:srgbClr val="696969"/>
                </a:solidFill>
              </a:rPr>
              <a:t/>
            </a:r>
            <a:r>
              <a:rPr sz="1200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62626"/>
          </a:solidFill>
          <a:ln>
            <a:solidFill>
              <a:srgbClr val="2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3C72C0-F14E-AE6C-05B1-D855F2B7A75A}"/>
              </a:ext>
            </a:extLst>
          </p:cNvPr>
          <p:cNvSpPr/>
          <p:nvPr/>
        </p:nvSpPr>
        <p:spPr>
          <a:xfrm>
            <a:off x="406844" y="914400"/>
            <a:ext cx="3570796" cy="3108960"/>
          </a:xfrm>
          <a:prstGeom prst="rect">
            <a:avLst/>
          </a:prstGeom>
          <a:solidFill>
            <a:srgbClr val="F8F6F1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D96B28-6F81-F84A-72AB-0C2FA85D90A9}"/>
              </a:ext>
            </a:extLst>
          </p:cNvPr>
          <p:cNvSpPr txBox="1"/>
          <p:nvPr/>
        </p:nvSpPr>
        <p:spPr>
          <a:xfrm>
            <a:off x="406844" y="914400"/>
            <a:ext cx="35707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rgbClr val="696969"/>
                </a:solidFill>
              </a:rPr>
              <a:t/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029277-50CE-9475-3068-8A42F5E4200E}"/>
              </a:ext>
            </a:extLst>
          </p:cNvPr>
          <p:cNvSpPr txBox="1"/>
          <p:nvPr/>
        </p:nvSpPr>
        <p:spPr>
          <a:xfrm>
            <a:off x="10354064" y="1145233"/>
            <a:ext cx="9501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100" b="1" dirty="0">
                <a:solidFill>
                  <a:srgbClr val="262626"/>
                </a:solidFill>
              </a:rPr>
              <a:t>Country</a:t>
            </a:r>
            <a:endParaRPr sz="1100" b="1" dirty="0">
              <a:solidFill>
                <a:srgbClr val="262626"/>
              </a:solidFill>
            </a:endParaRPr>
          </a:p>
          <a:p>
            <a:r>
              <a:rPr sz="1300" dirty="0">
                <a:solidFill>
                  <a:srgbClr val="696969"/>
                </a:solidFill>
              </a:rPr>
              <a:t>-</a:t>
            </a:r>
            <a:r>
              <a:rPr lang="en-US" sz="1300" dirty="0">
                <a:solidFill>
                  <a:srgbClr val="696969"/>
                </a:solidFill>
              </a:rPr>
              <a:t/>
            </a:r>
            <a:r>
              <a:rPr sz="1300" dirty="0">
                <a:solidFill>
                  <a:srgbClr val="696969"/>
                </a:solidFill>
              </a:rPr>
              <a:t/>
            </a:r>
          </a:p>
        </p:txBody>
      </p:sp>
      <p:pic>
        <p:nvPicPr>
          <p:cNvPr id="24" name="Picture 2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44" y="914400"/>
            <a:ext cx="3570796" cy="31393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39</Words>
  <Application>Microsoft Office PowerPoint</Application>
  <PresentationFormat>Custom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Sarthak Sharma</cp:lastModifiedBy>
  <cp:revision>3</cp:revision>
  <dcterms:created xsi:type="dcterms:W3CDTF">2013-01-27T09:14:16Z</dcterms:created>
  <dcterms:modified xsi:type="dcterms:W3CDTF">2026-05-14T14:59:33Z</dcterms:modified>
  <cp:category/>
</cp:coreProperties>
</file>